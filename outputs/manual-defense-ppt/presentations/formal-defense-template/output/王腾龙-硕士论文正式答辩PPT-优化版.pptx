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60000"/>
            <a:ext cx="9144000" cy="75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000" b="1">
                <a:solidFill>
                  <a:srgbClr val="02409A"/>
                </a:solidFill>
                <a:latin typeface="微软雅黑"/>
              </a:rPr>
              <a:t>基于规划反馈的图推理多智能体</a:t>
            </a:r>
            <a:br/>
            <a:r>
              <a:rPr sz="3000" b="1">
                <a:solidFill>
                  <a:srgbClr val="02409A"/>
                </a:solidFill>
                <a:latin typeface="微软雅黑"/>
              </a:rPr>
              <a:t>协同求解方法研究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12000" y="3888000"/>
            <a:ext cx="3960000" cy="64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0">
                <a:solidFill>
                  <a:srgbClr val="232323"/>
                </a:solidFill>
                <a:latin typeface="微软雅黑"/>
              </a:rPr>
              <a:t>硕士研究生：王腾龙</a:t>
            </a:r>
            <a:br/>
            <a:r>
              <a:rPr sz="1700" b="0">
                <a:solidFill>
                  <a:srgbClr val="232323"/>
                </a:solidFill>
                <a:latin typeface="微软雅黑"/>
              </a:rPr>
              <a:t>指 导 教 师：林丽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6000" y="1044000"/>
            <a:ext cx="432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02409A"/>
                </a:solidFill>
                <a:latin typeface="微软雅黑"/>
              </a:rPr>
              <a:t>东南大学硕士学位论文答辩报告</a:t>
            </a:r>
          </a:p>
        </p:txBody>
      </p:sp>
      <p:pic>
        <p:nvPicPr>
          <p:cNvPr id="5" name="Picture 4" descr="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000" y="4140000"/>
            <a:ext cx="2052000" cy="12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提纲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32000" y="1475999"/>
            <a:ext cx="4680000" cy="576000"/>
          </a:xfrm>
          <a:prstGeom prst="roundRect">
            <a:avLst/>
          </a:prstGeom>
          <a:solidFill>
            <a:srgbClr val="E2ECFA"/>
          </a:solidFill>
          <a:ln>
            <a:solidFill>
              <a:srgbClr val="024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0000" y="1601999"/>
            <a:ext cx="36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02409A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6000" y="1601999"/>
            <a:ext cx="345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2409A"/>
                </a:solidFill>
                <a:latin typeface="微软雅黑"/>
              </a:rPr>
              <a:t>研究背景、研究现状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2000" y="2304000"/>
            <a:ext cx="4680000" cy="576000"/>
          </a:xfrm>
          <a:prstGeom prst="roundRect">
            <a:avLst/>
          </a:prstGeom>
          <a:solidFill>
            <a:srgbClr val="E2ECFA"/>
          </a:solidFill>
          <a:ln>
            <a:solidFill>
              <a:srgbClr val="024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0000" y="2429999"/>
            <a:ext cx="36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02409A"/>
                </a:solidFill>
                <a:latin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000" y="2429999"/>
            <a:ext cx="345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2409A"/>
                </a:solidFill>
                <a:latin typeface="微软雅黑"/>
              </a:rPr>
              <a:t>研究目标、研究内容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32000" y="3131999"/>
            <a:ext cx="4680000" cy="576000"/>
          </a:xfrm>
          <a:prstGeom prst="roundRect">
            <a:avLst/>
          </a:prstGeom>
          <a:solidFill>
            <a:srgbClr val="E2ECFA"/>
          </a:solidFill>
          <a:ln>
            <a:solidFill>
              <a:srgbClr val="024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30000" y="3257999"/>
            <a:ext cx="36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02409A"/>
                </a:solidFill>
                <a:latin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000" y="3257999"/>
            <a:ext cx="345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2409A"/>
                </a:solidFill>
                <a:latin typeface="微软雅黑"/>
              </a:rPr>
              <a:t>技术路线、系统实现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2000" y="3960000"/>
            <a:ext cx="4680000" cy="576000"/>
          </a:xfrm>
          <a:prstGeom prst="roundRect">
            <a:avLst/>
          </a:prstGeom>
          <a:solidFill>
            <a:srgbClr val="E2ECFA"/>
          </a:solidFill>
          <a:ln>
            <a:solidFill>
              <a:srgbClr val="024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0000" y="4086000"/>
            <a:ext cx="36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02409A"/>
                </a:solidFill>
                <a:latin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6000" y="4086000"/>
            <a:ext cx="345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2409A"/>
                </a:solidFill>
                <a:latin typeface="微软雅黑"/>
              </a:rPr>
              <a:t>实验验证、总结展望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提纲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32000" y="1475999"/>
            <a:ext cx="4680000" cy="576000"/>
          </a:xfrm>
          <a:prstGeom prst="roundRect">
            <a:avLst/>
          </a:prstGeom>
          <a:solidFill>
            <a:srgbClr val="02409A"/>
          </a:solidFill>
          <a:ln>
            <a:solidFill>
              <a:srgbClr val="024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0000" y="1601999"/>
            <a:ext cx="36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6000" y="1601999"/>
            <a:ext cx="345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研究背景、研究现状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2000" y="2304000"/>
            <a:ext cx="4680000" cy="576000"/>
          </a:xfrm>
          <a:prstGeom prst="roundRect">
            <a:avLst/>
          </a:prstGeom>
          <a:solidFill>
            <a:srgbClr val="E2ECFA"/>
          </a:solidFill>
          <a:ln>
            <a:solidFill>
              <a:srgbClr val="024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0000" y="2429999"/>
            <a:ext cx="36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02409A"/>
                </a:solidFill>
                <a:latin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000" y="2429999"/>
            <a:ext cx="345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2409A"/>
                </a:solidFill>
                <a:latin typeface="微软雅黑"/>
              </a:rPr>
              <a:t>研究目标、研究内容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32000" y="3131999"/>
            <a:ext cx="4680000" cy="576000"/>
          </a:xfrm>
          <a:prstGeom prst="roundRect">
            <a:avLst/>
          </a:prstGeom>
          <a:solidFill>
            <a:srgbClr val="E2ECFA"/>
          </a:solidFill>
          <a:ln>
            <a:solidFill>
              <a:srgbClr val="024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30000" y="3257999"/>
            <a:ext cx="36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02409A"/>
                </a:solidFill>
                <a:latin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000" y="3257999"/>
            <a:ext cx="345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2409A"/>
                </a:solidFill>
                <a:latin typeface="微软雅黑"/>
              </a:rPr>
              <a:t>技术路线、系统实现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2000" y="3960000"/>
            <a:ext cx="4680000" cy="576000"/>
          </a:xfrm>
          <a:prstGeom prst="roundRect">
            <a:avLst/>
          </a:prstGeom>
          <a:solidFill>
            <a:srgbClr val="E2ECFA"/>
          </a:solidFill>
          <a:ln>
            <a:solidFill>
              <a:srgbClr val="024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0000" y="4086000"/>
            <a:ext cx="36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02409A"/>
                </a:solidFill>
                <a:latin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6000" y="4086000"/>
            <a:ext cx="345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2409A"/>
                </a:solidFill>
                <a:latin typeface="微软雅黑"/>
              </a:rPr>
              <a:t>实验验证、总结展望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研究背景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4</a:t>
            </a:r>
          </a:p>
        </p:txBody>
      </p:sp>
      <p:pic>
        <p:nvPicPr>
          <p:cNvPr id="8" name="Picture 7" descr="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188000"/>
            <a:ext cx="3924000" cy="291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2000" y="1440000"/>
            <a:ext cx="3671999" cy="20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232323"/>
                </a:solidFill>
                <a:latin typeface="微软雅黑"/>
              </a:rPr>
              <a:t>大语言模型具备复杂推理与程序生成能力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32323"/>
                </a:solidFill>
                <a:latin typeface="微软雅黑"/>
              </a:rPr>
              <a:t>图数据具有拓扑依赖、强约束和难线性化特征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32323"/>
                </a:solidFill>
                <a:latin typeface="微软雅黑"/>
              </a:rPr>
              <a:t>图推理要求模型同时完成结构理解、算法匹配与结果验证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5508000"/>
            <a:ext cx="7740000" cy="2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02409A"/>
                </a:solidFill>
                <a:latin typeface="微软雅黑"/>
              </a:rPr>
              <a:t>图推理不是一般文本推理的简单延伸。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研究背景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5</a:t>
            </a:r>
          </a:p>
        </p:txBody>
      </p:sp>
      <p:pic>
        <p:nvPicPr>
          <p:cNvPr id="8" name="Picture 7" descr="graph_reasoning_challe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188000"/>
            <a:ext cx="3924000" cy="291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2000" y="1440000"/>
            <a:ext cx="3671999" cy="20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232323"/>
                </a:solidFill>
                <a:latin typeface="微软雅黑"/>
              </a:rPr>
              <a:t>长序列图输入容易造成拓扑关系遗漏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32323"/>
                </a:solidFill>
                <a:latin typeface="微软雅黑"/>
              </a:rPr>
              <a:t>复杂约束下容易出现答案幻觉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32323"/>
                </a:solidFill>
                <a:latin typeface="微软雅黑"/>
              </a:rPr>
              <a:t>程序可运行并不等价于结果满足任务目标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5508000"/>
            <a:ext cx="7740000" cy="2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02409A"/>
                </a:solidFill>
                <a:latin typeface="微软雅黑"/>
              </a:rPr>
              <a:t>端到端生成在复杂图任务中不稳定。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研究背景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440000"/>
            <a:ext cx="1440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4832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路径规划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800000"/>
            <a:ext cx="2232000" cy="1872000"/>
          </a:xfrm>
          <a:prstGeom prst="rect">
            <a:avLst/>
          </a:prstGeom>
          <a:solidFill>
            <a:srgbClr val="F6F9FD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000" y="2052000"/>
            <a:ext cx="1835999" cy="10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最短路径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旅行商问题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交通与物流优化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1999" y="1440000"/>
            <a:ext cx="1440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1999" y="14832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网络分析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1999" y="1800000"/>
            <a:ext cx="2232000" cy="1872000"/>
          </a:xfrm>
          <a:prstGeom prst="rect">
            <a:avLst/>
          </a:prstGeom>
          <a:solidFill>
            <a:srgbClr val="F6F9FD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1999" y="2052000"/>
            <a:ext cx="1835999" cy="10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连通性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最大流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依赖关系分析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2000" y="1440000"/>
            <a:ext cx="1440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2000" y="14832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组合优化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2000" y="1800000"/>
            <a:ext cx="2232000" cy="1872000"/>
          </a:xfrm>
          <a:prstGeom prst="rect">
            <a:avLst/>
          </a:prstGeom>
          <a:solidFill>
            <a:srgbClr val="F6F9FD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2000" y="2052000"/>
            <a:ext cx="1835999" cy="10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最大团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点覆盖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匹配与搜索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5040000"/>
            <a:ext cx="756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02409A"/>
                </a:solidFill>
                <a:latin typeface="微软雅黑"/>
              </a:rPr>
              <a:t>可靠图推理的关键不是生成更长解释，而是生成满足图结构约束的可验证结果。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研究现状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7</a:t>
            </a:r>
          </a:p>
        </p:txBody>
      </p:sp>
      <p:pic>
        <p:nvPicPr>
          <p:cNvPr id="8" name="Picture 7" descr="llm_graph_reasoning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116000"/>
            <a:ext cx="4464000" cy="29519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20000" y="1368000"/>
            <a:ext cx="3240000" cy="20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通用推理增强：CoT、ToT、GoT 等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图任务方法：GraphWiz、GraphTeam、GCoder 等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整体趋势：由单次生成走向结构化协同与执行验证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研究现状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188000"/>
            <a:ext cx="1152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231200"/>
            <a:ext cx="1152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不足点1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28000" y="1188000"/>
            <a:ext cx="6768000" cy="540000"/>
          </a:xfrm>
          <a:prstGeom prst="rect">
            <a:avLst/>
          </a:prstGeom>
          <a:solidFill>
            <a:srgbClr val="F6F9FD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18000" y="1242000"/>
            <a:ext cx="65880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微软雅黑"/>
              </a:rPr>
              <a:t>端到端推理负担重，复杂输入下容易遗漏拓扑与边界条件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448000"/>
            <a:ext cx="1152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000" y="2491200"/>
            <a:ext cx="1152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不足点2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28000" y="2448000"/>
            <a:ext cx="6768000" cy="540000"/>
          </a:xfrm>
          <a:prstGeom prst="rect">
            <a:avLst/>
          </a:prstGeom>
          <a:solidFill>
            <a:srgbClr val="F6F9FD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18000" y="2502000"/>
            <a:ext cx="65880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微软雅黑"/>
              </a:rPr>
              <a:t>知识调用缺乏中间组织，检索结果与求解步骤不一定匹配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708000"/>
            <a:ext cx="1152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" y="3751200"/>
            <a:ext cx="1152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不足点3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28000" y="3708000"/>
            <a:ext cx="6768000" cy="540000"/>
          </a:xfrm>
          <a:prstGeom prst="rect">
            <a:avLst/>
          </a:prstGeom>
          <a:solidFill>
            <a:srgbClr val="F6F9FD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18000" y="3762000"/>
            <a:ext cx="65880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微软雅黑"/>
              </a:rPr>
              <a:t>程序生成缺少执行反馈，错误修复容易变成无方向重试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000" y="5220000"/>
            <a:ext cx="7703999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02409A"/>
                </a:solidFill>
                <a:latin typeface="微软雅黑"/>
              </a:rPr>
              <a:t>本文切入点：以显式规划作前向约束，以执行反馈作反向修正。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提纲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32000" y="1475999"/>
            <a:ext cx="4680000" cy="576000"/>
          </a:xfrm>
          <a:prstGeom prst="roundRect">
            <a:avLst/>
          </a:prstGeom>
          <a:solidFill>
            <a:srgbClr val="E2ECFA"/>
          </a:solidFill>
          <a:ln>
            <a:solidFill>
              <a:srgbClr val="024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0000" y="1601999"/>
            <a:ext cx="36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02409A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6000" y="1601999"/>
            <a:ext cx="345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2409A"/>
                </a:solidFill>
                <a:latin typeface="微软雅黑"/>
              </a:rPr>
              <a:t>研究背景、研究现状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2000" y="2304000"/>
            <a:ext cx="4680000" cy="576000"/>
          </a:xfrm>
          <a:prstGeom prst="roundRect">
            <a:avLst/>
          </a:prstGeom>
          <a:solidFill>
            <a:srgbClr val="02409A"/>
          </a:solidFill>
          <a:ln>
            <a:solidFill>
              <a:srgbClr val="024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0000" y="2429999"/>
            <a:ext cx="36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000" y="2429999"/>
            <a:ext cx="345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研究目标、研究内容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32000" y="3131999"/>
            <a:ext cx="4680000" cy="576000"/>
          </a:xfrm>
          <a:prstGeom prst="roundRect">
            <a:avLst/>
          </a:prstGeom>
          <a:solidFill>
            <a:srgbClr val="E2ECFA"/>
          </a:solidFill>
          <a:ln>
            <a:solidFill>
              <a:srgbClr val="024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30000" y="3257999"/>
            <a:ext cx="36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02409A"/>
                </a:solidFill>
                <a:latin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000" y="3257999"/>
            <a:ext cx="345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2409A"/>
                </a:solidFill>
                <a:latin typeface="微软雅黑"/>
              </a:rPr>
              <a:t>技术路线、系统实现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2000" y="3960000"/>
            <a:ext cx="4680000" cy="576000"/>
          </a:xfrm>
          <a:prstGeom prst="roundRect">
            <a:avLst/>
          </a:prstGeom>
          <a:solidFill>
            <a:srgbClr val="E2ECFA"/>
          </a:solidFill>
          <a:ln>
            <a:solidFill>
              <a:srgbClr val="024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0000" y="4086000"/>
            <a:ext cx="36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02409A"/>
                </a:solidFill>
                <a:latin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6000" y="4086000"/>
            <a:ext cx="345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2409A"/>
                </a:solidFill>
                <a:latin typeface="微软雅黑"/>
              </a:rPr>
              <a:t>实验验证、总结展望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研究目标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188000"/>
            <a:ext cx="1116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1231200"/>
            <a:ext cx="1116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总体</a:t>
            </a:r>
            <a:br/>
            <a:r>
              <a:rPr sz="1500" b="1">
                <a:solidFill>
                  <a:srgbClr val="FFFFFF"/>
                </a:solidFill>
                <a:latin typeface="微软雅黑"/>
              </a:rPr>
              <a:t>目标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0" y="1152000"/>
            <a:ext cx="6552000" cy="612000"/>
          </a:xfrm>
          <a:prstGeom prst="rect">
            <a:avLst/>
          </a:prstGeom>
          <a:solidFill>
            <a:srgbClr val="F6F9FD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90000" y="1205999"/>
            <a:ext cx="6372000" cy="503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微软雅黑"/>
              </a:rPr>
              <a:t>提升复杂图推理任务的稳定性、正确性与可解释性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2484000"/>
            <a:ext cx="1116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" y="2527200"/>
            <a:ext cx="1116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理论</a:t>
            </a:r>
            <a:br/>
            <a:r>
              <a:rPr sz="1500" b="1">
                <a:solidFill>
                  <a:srgbClr val="FFFFFF"/>
                </a:solidFill>
                <a:latin typeface="微软雅黑"/>
              </a:rPr>
              <a:t>目标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0000" y="2448000"/>
            <a:ext cx="6552000" cy="612000"/>
          </a:xfrm>
          <a:prstGeom prst="rect">
            <a:avLst/>
          </a:prstGeom>
          <a:solidFill>
            <a:srgbClr val="F6F9FD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90000" y="2502000"/>
            <a:ext cx="6372000" cy="503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微软雅黑"/>
              </a:rPr>
              <a:t>构建可规划、可验证、可修正的程序化图推理求解范式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3780000"/>
            <a:ext cx="1116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000" y="3823199"/>
            <a:ext cx="1116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系统</a:t>
            </a:r>
            <a:br/>
            <a:r>
              <a:rPr sz="1500" b="1">
                <a:solidFill>
                  <a:srgbClr val="FFFFFF"/>
                </a:solidFill>
                <a:latin typeface="微软雅黑"/>
              </a:rPr>
              <a:t>目标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0000" y="3744000"/>
            <a:ext cx="6552000" cy="612000"/>
          </a:xfrm>
          <a:prstGeom prst="rect">
            <a:avLst/>
          </a:prstGeom>
          <a:solidFill>
            <a:srgbClr val="F6F9FD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90000" y="3798000"/>
            <a:ext cx="6372000" cy="503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微软雅黑"/>
              </a:rPr>
              <a:t>实现主控调度、多智能体协作、共享黑板与执行反馈机制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机遇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440000"/>
            <a:ext cx="1800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1483200"/>
            <a:ext cx="180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复杂图推理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0" y="1440000"/>
            <a:ext cx="1800000" cy="32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0" y="1483200"/>
            <a:ext cx="180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结构化规划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8000" y="1440000"/>
            <a:ext cx="1800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8000" y="1483200"/>
            <a:ext cx="180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可执行求解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0000" y="1494000"/>
            <a:ext cx="72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400" b="1">
                <a:solidFill>
                  <a:srgbClr val="02409A"/>
                </a:solidFill>
                <a:latin typeface="微软雅黑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8000" y="1494000"/>
            <a:ext cx="72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400" b="1">
                <a:solidFill>
                  <a:srgbClr val="02409A"/>
                </a:solidFill>
                <a:latin typeface="微软雅黑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2520000"/>
            <a:ext cx="7380000" cy="14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232323"/>
                </a:solidFill>
                <a:latin typeface="微软雅黑"/>
              </a:rPr>
              <a:t>机遇1：引入结构化规划层，降低自然语言图任务的求解难度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32323"/>
                </a:solidFill>
                <a:latin typeface="微软雅黑"/>
              </a:rPr>
              <a:t>机遇2：以规划结果引导知识检索，提高 API 与算法知识的匹配精度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32323"/>
                </a:solidFill>
                <a:latin typeface="微软雅黑"/>
              </a:rPr>
              <a:t>机遇3：利用程序执行反馈，将错误定位和修复纳入闭环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3999" y="1260000"/>
            <a:ext cx="432000" cy="32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3999" y="1303200"/>
            <a:ext cx="432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1206000"/>
            <a:ext cx="7200000" cy="2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02409A"/>
                </a:solidFill>
                <a:latin typeface="微软雅黑"/>
              </a:rPr>
              <a:t>如何将自然语言图任务结构化解耦？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6000" y="2160000"/>
            <a:ext cx="6660000" cy="18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232323"/>
                </a:solidFill>
                <a:latin typeface="微软雅黑"/>
              </a:rPr>
              <a:t>抽取任务类型、图结构、约束集合和输出格式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32323"/>
                </a:solidFill>
                <a:latin typeface="微软雅黑"/>
              </a:rPr>
              <a:t>将任务目标转化为算法级伪代码规划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32323"/>
                </a:solidFill>
                <a:latin typeface="微软雅黑"/>
              </a:rPr>
              <a:t>为检索、编码和验证提供统一中间语义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3999" y="1260000"/>
            <a:ext cx="432000" cy="32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3999" y="1303200"/>
            <a:ext cx="432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1206000"/>
            <a:ext cx="7200000" cy="2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02409A"/>
                </a:solidFill>
                <a:latin typeface="微软雅黑"/>
              </a:rPr>
              <a:t>如何使外部知识与求解步骤准确匹配？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6000" y="2160000"/>
            <a:ext cx="6660000" cy="18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232323"/>
                </a:solidFill>
                <a:latin typeface="微软雅黑"/>
              </a:rPr>
              <a:t>以规划伪代码和结构约束标签构造查询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32323"/>
                </a:solidFill>
                <a:latin typeface="微软雅黑"/>
              </a:rPr>
              <a:t>检索图算法 API 与实现注意事项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32323"/>
                </a:solidFill>
                <a:latin typeface="微软雅黑"/>
              </a:rPr>
              <a:t>通过质量评估触发片段精炼或补充检索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3999" y="1260000"/>
            <a:ext cx="432000" cy="32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3999" y="1303200"/>
            <a:ext cx="432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1206000"/>
            <a:ext cx="7200000" cy="2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02409A"/>
                </a:solidFill>
                <a:latin typeface="微软雅黑"/>
              </a:rPr>
              <a:t>如何发现并修复程序实现偏差？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6000" y="2160000"/>
            <a:ext cx="6660000" cy="18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232323"/>
                </a:solidFill>
                <a:latin typeface="微软雅黑"/>
              </a:rPr>
              <a:t>执行测试检查图构建和输出格式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32323"/>
                </a:solidFill>
                <a:latin typeface="微软雅黑"/>
              </a:rPr>
              <a:t>约束检查覆盖路径、容量、时间窗口等条件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32323"/>
                </a:solidFill>
                <a:latin typeface="微软雅黑"/>
              </a:rPr>
              <a:t>错误反馈驱动局部修复、补充检索或重生成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研究内容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15</a:t>
            </a:r>
          </a:p>
        </p:txBody>
      </p:sp>
      <p:pic>
        <p:nvPicPr>
          <p:cNvPr id="8" name="Picture 7" descr="research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3528000" cy="2628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320000" y="1152000"/>
            <a:ext cx="1152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0" y="1195200"/>
            <a:ext cx="1152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内容一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80000" y="1152000"/>
            <a:ext cx="2880000" cy="450000"/>
          </a:xfrm>
          <a:prstGeom prst="rect">
            <a:avLst/>
          </a:prstGeom>
          <a:solidFill>
            <a:srgbClr val="F6F9FD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70000" y="1206000"/>
            <a:ext cx="2700000" cy="34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微软雅黑"/>
              </a:rPr>
              <a:t>设计规划反馈图推理协同求解方法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0" y="2232000"/>
            <a:ext cx="1152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0000" y="2275200"/>
            <a:ext cx="1152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内容二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80000" y="2232000"/>
            <a:ext cx="2880000" cy="450000"/>
          </a:xfrm>
          <a:prstGeom prst="rect">
            <a:avLst/>
          </a:prstGeom>
          <a:solidFill>
            <a:srgbClr val="F6F9FD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70000" y="2286000"/>
            <a:ext cx="2700000" cy="34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微软雅黑"/>
              </a:rPr>
              <a:t>实现主控调度与共享黑板支撑的多智能体系统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0" y="3311999"/>
            <a:ext cx="1152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0" y="3355199"/>
            <a:ext cx="1152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内容三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80000" y="3311999"/>
            <a:ext cx="2880000" cy="450000"/>
          </a:xfrm>
          <a:prstGeom prst="rect">
            <a:avLst/>
          </a:prstGeom>
          <a:solidFill>
            <a:srgbClr val="F6F9FD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70000" y="3366000"/>
            <a:ext cx="2700000" cy="34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微软雅黑"/>
              </a:rPr>
              <a:t>在五个公开基准上进行系统实验验证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提纲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32000" y="1475999"/>
            <a:ext cx="4680000" cy="576000"/>
          </a:xfrm>
          <a:prstGeom prst="roundRect">
            <a:avLst/>
          </a:prstGeom>
          <a:solidFill>
            <a:srgbClr val="E2ECFA"/>
          </a:solidFill>
          <a:ln>
            <a:solidFill>
              <a:srgbClr val="024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0000" y="1601999"/>
            <a:ext cx="36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02409A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6000" y="1601999"/>
            <a:ext cx="345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2409A"/>
                </a:solidFill>
                <a:latin typeface="微软雅黑"/>
              </a:rPr>
              <a:t>研究背景、研究现状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2000" y="2304000"/>
            <a:ext cx="4680000" cy="576000"/>
          </a:xfrm>
          <a:prstGeom prst="roundRect">
            <a:avLst/>
          </a:prstGeom>
          <a:solidFill>
            <a:srgbClr val="E2ECFA"/>
          </a:solidFill>
          <a:ln>
            <a:solidFill>
              <a:srgbClr val="024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0000" y="2429999"/>
            <a:ext cx="36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02409A"/>
                </a:solidFill>
                <a:latin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000" y="2429999"/>
            <a:ext cx="345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2409A"/>
                </a:solidFill>
                <a:latin typeface="微软雅黑"/>
              </a:rPr>
              <a:t>研究目标、研究内容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32000" y="3131999"/>
            <a:ext cx="4680000" cy="576000"/>
          </a:xfrm>
          <a:prstGeom prst="roundRect">
            <a:avLst/>
          </a:prstGeom>
          <a:solidFill>
            <a:srgbClr val="02409A"/>
          </a:solidFill>
          <a:ln>
            <a:solidFill>
              <a:srgbClr val="024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30000" y="3257999"/>
            <a:ext cx="36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000" y="3257999"/>
            <a:ext cx="345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技术路线、系统实现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2000" y="3960000"/>
            <a:ext cx="4680000" cy="576000"/>
          </a:xfrm>
          <a:prstGeom prst="roundRect">
            <a:avLst/>
          </a:prstGeom>
          <a:solidFill>
            <a:srgbClr val="E2ECFA"/>
          </a:solidFill>
          <a:ln>
            <a:solidFill>
              <a:srgbClr val="024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0000" y="4086000"/>
            <a:ext cx="36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02409A"/>
                </a:solidFill>
                <a:latin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6000" y="4086000"/>
            <a:ext cx="345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2409A"/>
                </a:solidFill>
                <a:latin typeface="微软雅黑"/>
              </a:rPr>
              <a:t>实验验证、总结展望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系统总体设计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17</a:t>
            </a:r>
          </a:p>
        </p:txBody>
      </p:sp>
      <p:pic>
        <p:nvPicPr>
          <p:cNvPr id="8" name="Picture 7" descr="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5760000" cy="324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0" y="1296000"/>
            <a:ext cx="2088000" cy="21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模块一：规划生成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模块二：规划引导检索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模块三：验证推理闭环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技术路线-规划生成方法-任务解析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990000"/>
            <a:ext cx="8172000" cy="522000"/>
          </a:xfrm>
          <a:prstGeom prst="rect">
            <a:avLst/>
          </a:prstGeom>
          <a:solidFill>
            <a:srgbClr val="E2ECFA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000" y="1116000"/>
            <a:ext cx="7848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02409A"/>
                </a:solidFill>
                <a:latin typeface="微软雅黑"/>
              </a:rPr>
              <a:t>子问题1：如何从自然语言问题中恢复任务结构？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835999"/>
            <a:ext cx="1368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79200"/>
            <a:ext cx="1368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解决思路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268000"/>
            <a:ext cx="3780000" cy="14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232323"/>
                </a:solidFill>
                <a:latin typeface="微软雅黑"/>
              </a:rPr>
              <a:t>将输入规整为任务类型、图标签、约束集合和输出格式，降低原始文本噪声。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960000"/>
            <a:ext cx="1368000" cy="32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0" y="4003199"/>
            <a:ext cx="1368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难点分析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392000"/>
            <a:ext cx="3780000" cy="827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图任务同时包含结构、算法和约束，单轮生成难以稳定覆盖。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0000" y="2520000"/>
            <a:ext cx="900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0" y="2563200"/>
            <a:ext cx="90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输入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4000" y="2563200"/>
            <a:ext cx="36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2409A"/>
                </a:solidFill>
                <a:latin typeface="微软雅黑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32000" y="2520000"/>
            <a:ext cx="900000" cy="32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2000" y="2563200"/>
            <a:ext cx="90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中间工件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000" y="2563200"/>
            <a:ext cx="36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2409A"/>
                </a:solidFill>
                <a:latin typeface="微软雅黑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3999" y="2520000"/>
            <a:ext cx="900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3999" y="2563200"/>
            <a:ext cx="90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后续阶段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技术路线-规划生成方法-伪代码规划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990000"/>
            <a:ext cx="8172000" cy="522000"/>
          </a:xfrm>
          <a:prstGeom prst="rect">
            <a:avLst/>
          </a:prstGeom>
          <a:solidFill>
            <a:srgbClr val="E2ECFA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000" y="1116000"/>
            <a:ext cx="7848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02409A"/>
                </a:solidFill>
                <a:latin typeface="微软雅黑"/>
              </a:rPr>
              <a:t>子问题2：如何把任务目标转化为可执行求解步骤？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835999"/>
            <a:ext cx="1368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79200"/>
            <a:ext cx="1368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解决思路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268000"/>
            <a:ext cx="3780000" cy="14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232323"/>
                </a:solidFill>
                <a:latin typeface="微软雅黑"/>
              </a:rPr>
              <a:t>生成算法级伪代码，显式表达图构建、算法选择、约束检查和输出格式化步骤。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960000"/>
            <a:ext cx="1368000" cy="32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0" y="4003199"/>
            <a:ext cx="1368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难点分析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392000"/>
            <a:ext cx="3780000" cy="827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图任务同时包含结构、算法和约束，单轮生成难以稳定覆盖。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0000" y="2520000"/>
            <a:ext cx="900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0" y="2563200"/>
            <a:ext cx="90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输入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4000" y="2563200"/>
            <a:ext cx="36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2409A"/>
                </a:solidFill>
                <a:latin typeface="微软雅黑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32000" y="2520000"/>
            <a:ext cx="900000" cy="32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2000" y="2563200"/>
            <a:ext cx="90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中间工件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000" y="2563200"/>
            <a:ext cx="36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2409A"/>
                </a:solidFill>
                <a:latin typeface="微软雅黑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3999" y="2520000"/>
            <a:ext cx="900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3999" y="2563200"/>
            <a:ext cx="90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后续阶段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技术路线-知识检索方法-规划引导检索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990000"/>
            <a:ext cx="8172000" cy="522000"/>
          </a:xfrm>
          <a:prstGeom prst="rect">
            <a:avLst/>
          </a:prstGeom>
          <a:solidFill>
            <a:srgbClr val="E2ECFA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000" y="1116000"/>
            <a:ext cx="7848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02409A"/>
                </a:solidFill>
                <a:latin typeface="微软雅黑"/>
              </a:rPr>
              <a:t>子问题3：如何召回与当前求解步骤匹配的算法知识？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835999"/>
            <a:ext cx="1368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79200"/>
            <a:ext cx="1368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解决思路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268000"/>
            <a:ext cx="3780000" cy="14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232323"/>
                </a:solidFill>
                <a:latin typeface="微软雅黑"/>
              </a:rPr>
              <a:t>使用规划伪代码与结构约束标签构造查询，从 3349 条图算法知识条目中召回 API 与实现知识。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960000"/>
            <a:ext cx="1368000" cy="32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0" y="4003199"/>
            <a:ext cx="1368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难点分析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392000"/>
            <a:ext cx="3780000" cy="827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图任务同时包含结构、算法和约束，单轮生成难以稳定覆盖。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0000" y="2520000"/>
            <a:ext cx="900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0" y="2563200"/>
            <a:ext cx="90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输入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4000" y="2563200"/>
            <a:ext cx="36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2409A"/>
                </a:solidFill>
                <a:latin typeface="微软雅黑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32000" y="2520000"/>
            <a:ext cx="900000" cy="32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2000" y="2563200"/>
            <a:ext cx="90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中间工件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000" y="2563200"/>
            <a:ext cx="36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2409A"/>
                </a:solidFill>
                <a:latin typeface="微软雅黑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3999" y="2520000"/>
            <a:ext cx="900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3999" y="2563200"/>
            <a:ext cx="90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后续阶段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技术路线-知识检索方法-质量评估与补充检索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990000"/>
            <a:ext cx="8172000" cy="522000"/>
          </a:xfrm>
          <a:prstGeom prst="rect">
            <a:avLst/>
          </a:prstGeom>
          <a:solidFill>
            <a:srgbClr val="E2ECFA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000" y="1116000"/>
            <a:ext cx="7848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02409A"/>
                </a:solidFill>
                <a:latin typeface="微软雅黑"/>
              </a:rPr>
              <a:t>子问题4：如何降低无关知识进入编码阶段的概率？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835999"/>
            <a:ext cx="1368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79200"/>
            <a:ext cx="1368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解决思路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268000"/>
            <a:ext cx="3780000" cy="14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232323"/>
                </a:solidFill>
                <a:latin typeface="微软雅黑"/>
              </a:rPr>
              <a:t>对候选知识进行相关性评估，必要时触发片段精炼、查询重写或补充检索。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960000"/>
            <a:ext cx="1368000" cy="32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0" y="4003199"/>
            <a:ext cx="1368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难点分析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392000"/>
            <a:ext cx="3780000" cy="827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图任务同时包含结构、算法和约束，单轮生成难以稳定覆盖。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0000" y="2520000"/>
            <a:ext cx="900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0" y="2563200"/>
            <a:ext cx="90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输入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4000" y="2563200"/>
            <a:ext cx="36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2409A"/>
                </a:solidFill>
                <a:latin typeface="微软雅黑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32000" y="2520000"/>
            <a:ext cx="900000" cy="32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2000" y="2563200"/>
            <a:ext cx="90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中间工件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000" y="2563200"/>
            <a:ext cx="36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2409A"/>
                </a:solidFill>
                <a:latin typeface="微软雅黑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3999" y="2520000"/>
            <a:ext cx="900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3999" y="2563200"/>
            <a:ext cx="90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后续阶段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技术路线-验证推理方法-执行验证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990000"/>
            <a:ext cx="8172000" cy="522000"/>
          </a:xfrm>
          <a:prstGeom prst="rect">
            <a:avLst/>
          </a:prstGeom>
          <a:solidFill>
            <a:srgbClr val="E2ECFA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000" y="1116000"/>
            <a:ext cx="7848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02409A"/>
                </a:solidFill>
                <a:latin typeface="微软雅黑"/>
              </a:rPr>
              <a:t>子问题5：如何判断候选程序是否真正满足任务目标？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835999"/>
            <a:ext cx="1368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79200"/>
            <a:ext cx="1368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解决思路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268000"/>
            <a:ext cx="3780000" cy="14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232323"/>
                </a:solidFill>
                <a:latin typeface="微软雅黑"/>
              </a:rPr>
              <a:t>通过执行测试、约束检查和格式校验识别图构建错误、API 误用和输出不一致。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960000"/>
            <a:ext cx="1368000" cy="32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0" y="4003199"/>
            <a:ext cx="1368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难点分析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392000"/>
            <a:ext cx="3780000" cy="827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图任务同时包含结构、算法和约束，单轮生成难以稳定覆盖。</a:t>
            </a:r>
          </a:p>
        </p:txBody>
      </p:sp>
      <p:pic>
        <p:nvPicPr>
          <p:cNvPr id="16" name="Picture 15" descr="fig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000" y="1800000"/>
            <a:ext cx="3780000" cy="262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技术路线-验证推理方法-反馈修复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990000"/>
            <a:ext cx="8172000" cy="522000"/>
          </a:xfrm>
          <a:prstGeom prst="rect">
            <a:avLst/>
          </a:prstGeom>
          <a:solidFill>
            <a:srgbClr val="E2ECFA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000" y="1116000"/>
            <a:ext cx="7848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02409A"/>
                </a:solidFill>
                <a:latin typeface="微软雅黑"/>
              </a:rPr>
              <a:t>子问题6：如何避免无方向的重复生成？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835999"/>
            <a:ext cx="1368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79200"/>
            <a:ext cx="1368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解决思路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268000"/>
            <a:ext cx="3780000" cy="14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232323"/>
                </a:solidFill>
                <a:latin typeface="微软雅黑"/>
              </a:rPr>
              <a:t>根据错误类型选择局部修复、补充检索、重生成或上游回退，并设置有界尝试次数。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960000"/>
            <a:ext cx="1368000" cy="32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0" y="4003199"/>
            <a:ext cx="1368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难点分析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392000"/>
            <a:ext cx="3780000" cy="827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图任务同时包含结构、算法和约束，单轮生成难以稳定覆盖。</a:t>
            </a:r>
          </a:p>
        </p:txBody>
      </p:sp>
      <p:pic>
        <p:nvPicPr>
          <p:cNvPr id="16" name="Picture 15" descr="fig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000" y="1800000"/>
            <a:ext cx="3780000" cy="262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系统总体设计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24</a:t>
            </a:r>
          </a:p>
        </p:txBody>
      </p:sp>
      <p:pic>
        <p:nvPicPr>
          <p:cNvPr id="8" name="Picture 7" descr="System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1007999"/>
            <a:ext cx="6192000" cy="338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96000" y="1260000"/>
            <a:ext cx="1800000" cy="201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32323"/>
                </a:solidFill>
                <a:latin typeface="微软雅黑"/>
              </a:rPr>
              <a:t>输入与任务建模层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32323"/>
                </a:solidFill>
                <a:latin typeface="微软雅黑"/>
              </a:rPr>
              <a:t>主控调度层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32323"/>
                </a:solidFill>
                <a:latin typeface="微软雅黑"/>
              </a:rPr>
              <a:t>多智能体执行层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32323"/>
                </a:solidFill>
                <a:latin typeface="微软雅黑"/>
              </a:rPr>
              <a:t>共享状态与支撑资源层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系统实现-主控调度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3999" y="1188000"/>
          <a:ext cx="75600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1980000"/>
                <a:gridCol w="1980000"/>
                <a:gridCol w="2160000"/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输入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产出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失败恢复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PARSE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原始问题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结构化任务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重新解析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PLAN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任务工件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规划工件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重新规划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RETRIEVE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规划工件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知识工件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补充检索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VERIFY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候选程序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反馈工件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修复/重生成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0000" y="5256000"/>
            <a:ext cx="7560000" cy="2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02409A"/>
                </a:solidFill>
                <a:latin typeface="微软雅黑"/>
              </a:rPr>
              <a:t>状态化调度使错误定位和恢复路径可控。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系统实现-运行配置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3999" y="1188000"/>
          <a:ext cx="7560000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1440000"/>
                <a:gridCol w="3600000"/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配置项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默认值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作用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检索返回条数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控制候选知识范围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最大局部修复轮数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控制反馈闭环深度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最大重生成轮数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限制失败后探索成本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单次执行超时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15秒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避免复杂搜索失控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随机种子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42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微软雅黑"/>
                        </a:rPr>
                        <a:t>支撑实验复现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0000" y="5256000"/>
            <a:ext cx="7560000" cy="2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02409A"/>
                </a:solidFill>
                <a:latin typeface="微软雅黑"/>
              </a:rPr>
              <a:t>反馈闭环必须有界，才能兼顾准确率和工程成本。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提纲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32000" y="1475999"/>
            <a:ext cx="4680000" cy="576000"/>
          </a:xfrm>
          <a:prstGeom prst="roundRect">
            <a:avLst/>
          </a:prstGeom>
          <a:solidFill>
            <a:srgbClr val="E2ECFA"/>
          </a:solidFill>
          <a:ln>
            <a:solidFill>
              <a:srgbClr val="024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0000" y="1601999"/>
            <a:ext cx="36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02409A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6000" y="1601999"/>
            <a:ext cx="345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2409A"/>
                </a:solidFill>
                <a:latin typeface="微软雅黑"/>
              </a:rPr>
              <a:t>研究背景、研究现状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2000" y="2304000"/>
            <a:ext cx="4680000" cy="576000"/>
          </a:xfrm>
          <a:prstGeom prst="roundRect">
            <a:avLst/>
          </a:prstGeom>
          <a:solidFill>
            <a:srgbClr val="E2ECFA"/>
          </a:solidFill>
          <a:ln>
            <a:solidFill>
              <a:srgbClr val="024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0000" y="2429999"/>
            <a:ext cx="36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02409A"/>
                </a:solidFill>
                <a:latin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000" y="2429999"/>
            <a:ext cx="345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2409A"/>
                </a:solidFill>
                <a:latin typeface="微软雅黑"/>
              </a:rPr>
              <a:t>研究目标、研究内容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32000" y="3131999"/>
            <a:ext cx="4680000" cy="576000"/>
          </a:xfrm>
          <a:prstGeom prst="roundRect">
            <a:avLst/>
          </a:prstGeom>
          <a:solidFill>
            <a:srgbClr val="E2ECFA"/>
          </a:solidFill>
          <a:ln>
            <a:solidFill>
              <a:srgbClr val="024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30000" y="3257999"/>
            <a:ext cx="36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02409A"/>
                </a:solidFill>
                <a:latin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000" y="3257999"/>
            <a:ext cx="345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2409A"/>
                </a:solidFill>
                <a:latin typeface="微软雅黑"/>
              </a:rPr>
              <a:t>技术路线、系统实现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2000" y="3960000"/>
            <a:ext cx="4680000" cy="576000"/>
          </a:xfrm>
          <a:prstGeom prst="roundRect">
            <a:avLst/>
          </a:prstGeom>
          <a:solidFill>
            <a:srgbClr val="02409A"/>
          </a:solidFill>
          <a:ln>
            <a:solidFill>
              <a:srgbClr val="024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0000" y="4086000"/>
            <a:ext cx="360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6000" y="4086000"/>
            <a:ext cx="345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实验验证、总结展望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数据集与评价指标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1116000"/>
          <a:ext cx="7920000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2160000"/>
                <a:gridCol w="3960000"/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基准测试集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侧重点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代表任务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GraphArena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经典图问题与组合优化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连通性、最大团、旅行商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NLGraph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自然语言图算法推理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最短路径、最大流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GraphWiz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指令式图推理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哈密顿路径、子图匹配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LLM4DyG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动态图与时间约束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时序路径、动态邻居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GraphInstruct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图指令跟随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邻居查询、遍历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0000" y="5184000"/>
            <a:ext cx="7560000" cy="2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02409A"/>
                </a:solidFill>
                <a:latin typeface="微软雅黑"/>
              </a:rPr>
              <a:t>实验覆盖经典图算法、组合优化、指令跟随和动态图推理。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实验对比算法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29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1116000"/>
          <a:ext cx="79200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2160000"/>
                <a:gridCol w="3960000"/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类别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方法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直接推理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GPT-4o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通用强基座模型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多智能体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GraphTeam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代表性协同求解方法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程序生成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GCoder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代表性代码化图推理方法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本文方法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PlanGraph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规划反馈多智能体协同求解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0000" y="5184000"/>
            <a:ext cx="7560000" cy="2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02409A"/>
                </a:solidFill>
                <a:latin typeface="微软雅黑"/>
              </a:rPr>
              <a:t>实验固定数据划分、模型版本、执行环境和答案判定规则。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方法性能评估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51999" y="1007999"/>
          <a:ext cx="7488000" cy="196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92000"/>
                <a:gridCol w="1080000"/>
                <a:gridCol w="1152000"/>
                <a:gridCol w="1080000"/>
                <a:gridCol w="1188000"/>
                <a:gridCol w="936000"/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基准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任务数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GPT-4o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GraphTeam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GCoder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PlanGraph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提升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GraphArena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49.08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95.14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94.27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97.74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+2.60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NLGraph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51.40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97.71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96.90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98.72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+1.01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GraphWiz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47.61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88.62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90.20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97.01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+6.81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LLM4DyG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58.04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96.35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93.78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96.11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-0.24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GraphInstruct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21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51.14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93.48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92.56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94.87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+1.39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平均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--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51.45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94.26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93.54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96.89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+2.31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76000" y="4500000"/>
            <a:ext cx="7380000" cy="79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PlanGraph 在五个基准中四个取得最优，平均 EM 达到 96.89%。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GraphWiz 提升 6.81 个百分点，说明高约束路径搜索任务收益明显。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任务类别实验结果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31</a:t>
            </a:r>
          </a:p>
        </p:txBody>
      </p:sp>
      <p:pic>
        <p:nvPicPr>
          <p:cNvPr id="8" name="Picture 7" descr="exp_category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4752000" cy="298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44000" y="1440000"/>
            <a:ext cx="2808000" cy="19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五类任务上均取得最高精确匹配率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哈密顿类任务平均 EM 为 95.33%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相比最佳现有方法提升 21.03 个百分点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复杂度分层实验结果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32</a:t>
            </a:r>
          </a:p>
        </p:txBody>
      </p:sp>
      <p:pic>
        <p:nvPicPr>
          <p:cNvPr id="8" name="Picture 7" descr="exp_complexit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4752000" cy="298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44000" y="1440000"/>
            <a:ext cx="2808000" cy="19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非 NP 完全任务接近饱和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NP 完全任务上 PlanGraph 提升更明显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复杂任务更能体现规划与验证闭环价值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样本难度实验结果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33</a:t>
            </a:r>
          </a:p>
        </p:txBody>
      </p:sp>
      <p:pic>
        <p:nvPicPr>
          <p:cNvPr id="8" name="Picture 7" descr="exp_sample_difficult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4752000" cy="298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44000" y="1440000"/>
            <a:ext cx="2808000" cy="19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难度提高后各方法均下降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PlanGraph 在困难样本下降幅度更小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大图搜索空间下执行验证收益更明显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消融实验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34</a:t>
            </a:r>
          </a:p>
        </p:txBody>
      </p:sp>
      <p:pic>
        <p:nvPicPr>
          <p:cNvPr id="8" name="Picture 7" descr="exp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4752000" cy="298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44000" y="1440000"/>
            <a:ext cx="2808000" cy="19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去除规划模块后下降最明显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去除验证模块后 GraphWiz 从 97.01% 降至 90.72%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检索模块提升温和但稳定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鲁棒性分析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35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80000" y="1152000"/>
          <a:ext cx="7380000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1620000"/>
                <a:gridCol w="1620000"/>
                <a:gridCol w="1620000"/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扰动类型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GPT-4o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GraphTeam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PlanGraph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微软雅黑"/>
                        </a:rPr>
                        <a:t>节点顺序打乱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微软雅黑"/>
                        </a:rPr>
                        <a:t>51.6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微软雅黑"/>
                        </a:rPr>
                        <a:t>92.4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微软雅黑"/>
                        </a:rPr>
                        <a:t>96.8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微软雅黑"/>
                        </a:rPr>
                        <a:t>边描述改写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微软雅黑"/>
                        </a:rPr>
                        <a:t>48.9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微软雅黑"/>
                        </a:rPr>
                        <a:t>91.1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微软雅黑"/>
                        </a:rPr>
                        <a:t>95.7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微软雅黑"/>
                        </a:rPr>
                        <a:t>输出格式切换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微软雅黑"/>
                        </a:rPr>
                        <a:t>44.3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微软雅黑"/>
                        </a:rPr>
                        <a:t>89.8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微软雅黑"/>
                        </a:rPr>
                        <a:t>94.9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2000" y="3851999"/>
            <a:ext cx="756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02409A"/>
                </a:solidFill>
                <a:latin typeface="微软雅黑"/>
              </a:rPr>
              <a:t>结构化任务表示降低了表面措辞和输出形式变化对后续规划的影响。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参数敏感性与工程开销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36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88000" y="1044000"/>
          <a:ext cx="66600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1260000"/>
                <a:gridCol w="1260000"/>
                <a:gridCol w="1260000"/>
                <a:gridCol w="1260000"/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参数(k,r)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总体EM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困难EM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平均修复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耗时(s)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(1,0)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70.00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55.00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0.00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13.80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(3,1)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74.17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63.75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0.36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15.20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(7,3)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73.75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66.25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0.88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17.60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(5,4)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71.25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65.00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1.14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20.90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148000" y="2880000"/>
          <a:ext cx="3888000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/>
                <a:gridCol w="864000"/>
                <a:gridCol w="864000"/>
                <a:gridCol w="864000"/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任务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耗时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生成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验证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最短路径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10.8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1.1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1.3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最大流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14.6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1.3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1.8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旅行商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24.3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1.8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323"/>
                          </a:solidFill>
                          <a:latin typeface="微软雅黑"/>
                        </a:rPr>
                        <a:t>2.7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样例分析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37</a:t>
            </a:r>
          </a:p>
        </p:txBody>
      </p:sp>
      <p:pic>
        <p:nvPicPr>
          <p:cNvPr id="8" name="Picture 7" descr="cas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3960000" cy="30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80000" y="1260000"/>
            <a:ext cx="3671999" cy="20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样例：五节点带权无向图旅行商问题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规划显式表达访问全部节点、回到起点和总代价最小化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32323"/>
                </a:solidFill>
                <a:latin typeface="微软雅黑"/>
              </a:rPr>
              <a:t>验证检查路径闭合、节点覆盖、边合法性和代价计算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0" y="4104000"/>
            <a:ext cx="3671999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2409A"/>
                </a:solidFill>
                <a:latin typeface="微软雅黑"/>
              </a:rPr>
              <a:t>最终路径：A → B → E → D → C → A，总代价 14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误差分析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38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1116000"/>
          <a:ext cx="7920000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4320000"/>
                <a:gridCol w="1800000"/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错误类型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具体表现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主要影响阶段</a:t>
                      </a:r>
                    </a:p>
                  </a:txBody>
                  <a:tcPr marL="21600" marR="21600" marT="10800" marB="10800">
                    <a:solidFill>
                      <a:srgbClr val="02409A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任务识别偏差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判定任务与优化任务混淆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规划阶段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约束遗漏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忽略起点、回路、时间窗口等限制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规划/编码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API误用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函数语义相近但约束不匹配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检索/编码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边界情况失效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验证样例未覆盖特殊结构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验证阶段</a:t>
                      </a:r>
                    </a:p>
                  </a:txBody>
                  <a:tcPr marL="21600" marR="21600" marT="10800" marB="108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输出格式错误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路径、集合或文本格式不符合脚本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微软雅黑"/>
                        </a:rPr>
                        <a:t>答案生成</a:t>
                      </a:r>
                    </a:p>
                  </a:txBody>
                  <a:tcPr marL="21600" marR="21600" marT="10800" marB="10800">
                    <a:solidFill>
                      <a:srgbClr val="F1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论文总结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080000"/>
            <a:ext cx="8100000" cy="32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232323"/>
                </a:solidFill>
                <a:latin typeface="微软雅黑"/>
              </a:rPr>
              <a:t>系统分析了大语言模型在图推理任务中的结构理解、约束建模、算法映射和程序执行困难。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32323"/>
                </a:solidFill>
                <a:latin typeface="微软雅黑"/>
              </a:rPr>
              <a:t>提出 PlanGraph 框架，将规划生成、知识检索、程序生成、执行验证和反馈修复组织为协同闭环。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32323"/>
                </a:solidFill>
                <a:latin typeface="微软雅黑"/>
              </a:rPr>
              <a:t>实现了主控调度、共享黑板、中间工件、异常恢复和任务适配等系统机制。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32323"/>
                </a:solidFill>
                <a:latin typeface="微软雅黑"/>
              </a:rPr>
              <a:t>在五个公开图推理基准上完成系统评估，平均 EM 达到 96.89%，较最佳现有方法平均提升 2.31 个百分点。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论文创新点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152000"/>
            <a:ext cx="1440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11952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创新点1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2000" y="1152000"/>
            <a:ext cx="6408000" cy="558000"/>
          </a:xfrm>
          <a:prstGeom prst="rect">
            <a:avLst/>
          </a:prstGeom>
          <a:solidFill>
            <a:srgbClr val="F6F9FD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2000" y="1206000"/>
            <a:ext cx="6228000" cy="4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微软雅黑"/>
              </a:rPr>
              <a:t>提出基于规划反馈的图推理协同框架，使规划前向约束检索与编码，反馈反向修正实现偏差。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000" y="2448000"/>
            <a:ext cx="1440000" cy="32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000" y="24912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创新点2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2000" y="2448000"/>
            <a:ext cx="6408000" cy="558000"/>
          </a:xfrm>
          <a:prstGeom prst="rect">
            <a:avLst/>
          </a:prstGeom>
          <a:solidFill>
            <a:srgbClr val="F6F9FD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2000" y="2502000"/>
            <a:ext cx="6228000" cy="4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微软雅黑"/>
              </a:rPr>
              <a:t>提出伪代码规划引导的知识检索机制，将原始问题查询转化为贴近算法步骤的结构化查询。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000" y="3744000"/>
            <a:ext cx="1440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" y="37872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创新点3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2000" y="3744000"/>
            <a:ext cx="6408000" cy="558000"/>
          </a:xfrm>
          <a:prstGeom prst="rect">
            <a:avLst/>
          </a:prstGeom>
          <a:solidFill>
            <a:srgbClr val="F6F9FD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2000" y="3798000"/>
            <a:ext cx="6228000" cy="4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微软雅黑"/>
              </a:rPr>
              <a:t>构建执行验证与反馈推理闭环，通过测试、约束检查和有界修复提升可靠性。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6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000" y="0"/>
            <a:ext cx="10800" cy="8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0"/>
            <a:ext cx="10800" cy="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600" y="0"/>
            <a:ext cx="108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200" y="151200"/>
            <a:ext cx="7920000" cy="46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64800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微软雅黑"/>
              </a:rPr>
              <a:t>41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116000"/>
            <a:ext cx="1440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11592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规划表示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2000" y="1116000"/>
            <a:ext cx="6408000" cy="432000"/>
          </a:xfrm>
          <a:prstGeom prst="rect">
            <a:avLst/>
          </a:prstGeom>
          <a:solidFill>
            <a:srgbClr val="F6F9FD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2000" y="1170000"/>
            <a:ext cx="6228000" cy="323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微软雅黑"/>
              </a:rPr>
              <a:t>增强复杂时间依赖、动态图演化和异构关系表达能力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000" y="2124000"/>
            <a:ext cx="1440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000" y="2167200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知识检索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2000" y="2124000"/>
            <a:ext cx="6408000" cy="432000"/>
          </a:xfrm>
          <a:prstGeom prst="rect">
            <a:avLst/>
          </a:prstGeom>
          <a:solidFill>
            <a:srgbClr val="F6F9FD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2000" y="2178000"/>
            <a:ext cx="6228000" cy="323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微软雅黑"/>
              </a:rPr>
              <a:t>利用失败反馈驱动知识重排序和补充检索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000" y="3131999"/>
            <a:ext cx="1440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" y="3175199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验证机制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2000" y="3131999"/>
            <a:ext cx="6408000" cy="432000"/>
          </a:xfrm>
          <a:prstGeom prst="rect">
            <a:avLst/>
          </a:prstGeom>
          <a:solidFill>
            <a:srgbClr val="F6F9FD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2000" y="3186000"/>
            <a:ext cx="6228000" cy="323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微软雅黑"/>
              </a:rPr>
              <a:t>构造更具代表性的边界样例，提升约束覆盖度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000" y="4139999"/>
            <a:ext cx="1440000" cy="324000"/>
          </a:xfrm>
          <a:prstGeom prst="rect">
            <a:avLst/>
          </a:prstGeom>
          <a:solidFill>
            <a:srgbClr val="024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000" y="4183199"/>
            <a:ext cx="144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真实应用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2000" y="4139999"/>
            <a:ext cx="6408000" cy="432000"/>
          </a:xfrm>
          <a:prstGeom prst="rect">
            <a:avLst/>
          </a:prstGeom>
          <a:solidFill>
            <a:srgbClr val="F6F9FD"/>
          </a:solidFill>
          <a:ln>
            <a:solidFill>
              <a:srgbClr val="21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2000" y="4193999"/>
            <a:ext cx="6228000" cy="323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微软雅黑"/>
              </a:rPr>
              <a:t>面向知识图谱问答、软件依赖分析和网络运维诊断等场景落地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68000"/>
            <a:ext cx="9144000" cy="79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2409A"/>
                </a:solidFill>
                <a:latin typeface="微软雅黑"/>
              </a:rPr>
              <a:t>感谢各位评委老师！</a:t>
            </a:r>
            <a:br/>
            <a:r>
              <a:rPr sz="3200" b="1">
                <a:solidFill>
                  <a:srgbClr val="02409A"/>
                </a:solidFill>
                <a:latin typeface="微软雅黑"/>
              </a:rPr>
              <a:t>请大家提出宝贵意见！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
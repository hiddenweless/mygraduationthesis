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43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440000"/>
            <a:ext cx="8280000" cy="61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143757"/>
                </a:solidFill>
                <a:latin typeface="Microsoft YaHei"/>
              </a:rPr>
              <a:t>基于规划反馈的图推理多智能体协同求解方法研究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7999" y="2124000"/>
            <a:ext cx="6120000" cy="30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Microsoft YaHei"/>
              </a:rPr>
              <a:t>硕士学位论文正式答辩报告</a:t>
            </a:r>
          </a:p>
        </p:txBody>
      </p:sp>
      <p:pic>
        <p:nvPicPr>
          <p:cNvPr id="6" name="Picture 5" descr="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000" y="2772000"/>
            <a:ext cx="3600000" cy="208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6000" y="3851999"/>
            <a:ext cx="4320000" cy="79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E1E1E"/>
                </a:solidFill>
                <a:latin typeface="Microsoft YaHei"/>
              </a:rPr>
              <a:t>硕士研究生：王腾龙</a:t>
            </a:r>
            <a:br/>
            <a:r>
              <a:t>指导教师：林丽</a:t>
            </a:r>
            <a:br/>
            <a:r>
              <a:t>专业方向：人工智能 / 图推理与智能计算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5886000"/>
            <a:ext cx="432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Microsoft YaHei"/>
              </a:rPr>
              <a:t>东南大学硕士学位论文答辩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提纲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00000" y="1440000"/>
            <a:ext cx="8460000" cy="5940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8000" y="1562400"/>
            <a:ext cx="396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1569600"/>
            <a:ext cx="6768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43757"/>
                </a:solidFill>
                <a:latin typeface="Microsoft YaHei"/>
              </a:rPr>
              <a:t>研究背景、研究现状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0000" y="2286000"/>
            <a:ext cx="8460000" cy="5940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98000" y="2408400"/>
            <a:ext cx="396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0000" y="2415600"/>
            <a:ext cx="6768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43757"/>
                </a:solidFill>
                <a:latin typeface="Microsoft YaHei"/>
              </a:rPr>
              <a:t>研究目标、研究内容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0000" y="3131999"/>
            <a:ext cx="8460000" cy="5940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8000" y="3254399"/>
            <a:ext cx="396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0000" y="3261599"/>
            <a:ext cx="6768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43757"/>
                </a:solidFill>
                <a:latin typeface="Microsoft YaHei"/>
              </a:rPr>
              <a:t>技术路线、系统实现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00000" y="3977999"/>
            <a:ext cx="8460000" cy="5940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98000" y="4100399"/>
            <a:ext cx="396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0000" y="4107599"/>
            <a:ext cx="6768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43757"/>
                </a:solidFill>
                <a:latin typeface="Microsoft YaHei"/>
              </a:rPr>
              <a:t>实验验证、总结展望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提纲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00000" y="1440000"/>
            <a:ext cx="8460000" cy="594000"/>
          </a:xfrm>
          <a:prstGeom prst="roundRect">
            <a:avLst/>
          </a:prstGeom>
          <a:solidFill>
            <a:srgbClr val="1F4E7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8000" y="1562400"/>
            <a:ext cx="396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1569600"/>
            <a:ext cx="6768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研究背景、研究现状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0000" y="2286000"/>
            <a:ext cx="8460000" cy="5940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98000" y="2408400"/>
            <a:ext cx="396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0000" y="2415600"/>
            <a:ext cx="6768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43757"/>
                </a:solidFill>
                <a:latin typeface="Microsoft YaHei"/>
              </a:rPr>
              <a:t>研究目标、研究内容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0000" y="3131999"/>
            <a:ext cx="8460000" cy="5940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8000" y="3254399"/>
            <a:ext cx="396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0000" y="3261599"/>
            <a:ext cx="6768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43757"/>
                </a:solidFill>
                <a:latin typeface="Microsoft YaHei"/>
              </a:rPr>
              <a:t>技术路线、系统实现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00000" y="3977999"/>
            <a:ext cx="8460000" cy="5940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98000" y="4100399"/>
            <a:ext cx="396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0000" y="4107599"/>
            <a:ext cx="6768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43757"/>
                </a:solidFill>
                <a:latin typeface="Microsoft YaHei"/>
              </a:rPr>
              <a:t>实验验证、总结展望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研究背景：大语言模型具备复杂推理潜力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 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080000"/>
            <a:ext cx="4752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大语言模型通过自回归生成机制处理文本序列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在自然语言理解、复杂推理和程序生成中表现突出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多智能体协作使任务理解、规划、检索和执行可分阶段完成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0" y="1116000"/>
            <a:ext cx="3816000" cy="1908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6000" y="1206000"/>
            <a:ext cx="3564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研究切入点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2000" y="1494000"/>
            <a:ext cx="3564000" cy="1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将大模型能力从“文本回答”推进到“可规划、可验证、可修正”的图任务求解过程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研究背景：图数据具有强结构与强约束特征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 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05</a:t>
            </a:r>
          </a:p>
        </p:txBody>
      </p:sp>
      <p:pic>
        <p:nvPicPr>
          <p:cNvPr id="9" name="Picture 8" descr="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80000"/>
            <a:ext cx="4968000" cy="327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92000" y="1224000"/>
            <a:ext cx="4392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拓扑依赖：节点与边关系决定推理过程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约束显式：路径、匹配、流、回路等条件必须满足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难以线性化：长序列输入容易造成结构遗漏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2000" y="3816000"/>
            <a:ext cx="41760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143757"/>
                </a:solidFill>
                <a:latin typeface="Microsoft YaHei"/>
              </a:rPr>
              <a:t>图推理不是一般文本推理的简单延伸，而是结构理解与可执行求解的复合任务。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应用场景：图推理支撑多类结构化决策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 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" y="1116000"/>
            <a:ext cx="3168000" cy="2412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000" y="1206000"/>
            <a:ext cx="2916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Microsoft YaHei"/>
              </a:rPr>
              <a:t>路径规划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4000" y="1494000"/>
            <a:ext cx="2916000" cy="19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最短路径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旅行商问题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交通与物流优化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8000" y="1116000"/>
            <a:ext cx="3168000" cy="2412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4000" y="1206000"/>
            <a:ext cx="2916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Microsoft YaHei"/>
              </a:rPr>
              <a:t>网络分析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000" y="1494000"/>
            <a:ext cx="2916000" cy="19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连通性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最大流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社区与依赖关系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3999" y="1116000"/>
            <a:ext cx="3168000" cy="2412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0000" y="1206000"/>
            <a:ext cx="2916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组合优化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5999" y="1494000"/>
            <a:ext cx="2916000" cy="19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最大团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点覆盖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独立集与匹配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000" y="4176000"/>
            <a:ext cx="93600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143757"/>
                </a:solidFill>
                <a:latin typeface="Microsoft YaHei"/>
              </a:rPr>
              <a:t>关键要求：不仅要“答出结果”，还要保证结果满足图结构约束与算法目标。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核心问题：端到端推理容易产生结构性错误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 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07</a:t>
            </a:r>
          </a:p>
        </p:txBody>
      </p:sp>
      <p:pic>
        <p:nvPicPr>
          <p:cNvPr id="9" name="Picture 8" descr="graph_reasoning_challe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972000"/>
            <a:ext cx="5256000" cy="345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80000" y="1152000"/>
            <a:ext cx="3960000" cy="23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长序列图输入导致拓扑关系遗漏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复杂约束下容易出现答案幻觉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程序可运行不代表结果满足任务目标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3744000"/>
            <a:ext cx="4031999" cy="503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ED7D31"/>
                </a:solidFill>
                <a:latin typeface="Microsoft YaHei"/>
              </a:rPr>
              <a:t>需求：把隐式推理拆解为可检查的中间步骤，并引入执行反馈。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研究现状：方法从单次生成走向结构化协同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 研究现状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08</a:t>
            </a:r>
          </a:p>
        </p:txBody>
      </p:sp>
      <p:pic>
        <p:nvPicPr>
          <p:cNvPr id="9" name="Picture 8" descr="llm_graph_reasoning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972000"/>
            <a:ext cx="5760000" cy="363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12000" y="1116000"/>
            <a:ext cx="3888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通用推理增强：CoT、ToT、GoT 等扩展思维路径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图任务方法：GraphWiz、GraphTeam、GCoder 等面向图算法求解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发展趋势：从弱闭环走向系统化协同与可执行验证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现有不足：知识、规划与验证尚未形成闭环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 研究现状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" y="1080000"/>
            <a:ext cx="3096000" cy="2340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000" y="1170000"/>
            <a:ext cx="2844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Microsoft YaHei"/>
              </a:rPr>
              <a:t>不足一：端到端负担重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4000" y="1458000"/>
            <a:ext cx="2844000" cy="18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任务理解、算法选择、约束满足一次完成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复杂输入下容易遗漏拓扑或边界条件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6000" y="1080000"/>
            <a:ext cx="3096000" cy="2340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2000" y="1170000"/>
            <a:ext cx="2844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不足二：知识调用缺少组织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8000" y="1458000"/>
            <a:ext cx="2844000" cy="18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直接检索与当前求解步骤不一定匹配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API 选择和约束解释容易偏差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0" y="1080000"/>
            <a:ext cx="3096000" cy="2340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000" y="1170000"/>
            <a:ext cx="2844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C0504D"/>
                </a:solidFill>
                <a:latin typeface="Microsoft YaHei"/>
              </a:rPr>
              <a:t>不足三：验证反馈不足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2000" y="1458000"/>
            <a:ext cx="2844000" cy="18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程序生成后缺少约束检查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错误修复容易变成无方向重试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4104000"/>
            <a:ext cx="97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143757"/>
                </a:solidFill>
                <a:latin typeface="Microsoft YaHei"/>
              </a:rPr>
              <a:t>本文切入点：以显式规划作为前向约束，以执行反馈作为反向修正，构建图推理求解闭环。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3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404000"/>
            <a:ext cx="7920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400" b="1">
                <a:solidFill>
                  <a:srgbClr val="ED7D31"/>
                </a:solidFill>
                <a:latin typeface="Microsoft YaHe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28000" y="1314000"/>
            <a:ext cx="6660000" cy="52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Microsoft YaHei"/>
              </a:rPr>
              <a:t>研究目标、研究内容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4000" y="1900800"/>
            <a:ext cx="738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DDEBF7"/>
                </a:solidFill>
                <a:latin typeface="Microsoft YaHei"/>
              </a:rPr>
              <a:t>从问题定位转入本文具体完成的工作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8000" y="6408000"/>
            <a:ext cx="792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DDEBF7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研究目标：构建可规划、可验证、可修正的图推理框架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2 目标内容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6000" y="1080000"/>
            <a:ext cx="3204000" cy="2304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000" y="1170000"/>
            <a:ext cx="2952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Microsoft YaHei"/>
              </a:rPr>
              <a:t>总体目标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000" y="1458000"/>
            <a:ext cx="2952000" cy="18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提升复杂图推理任务的稳定性、正确性与可解释性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8000" y="1080000"/>
            <a:ext cx="3204000" cy="2304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999" y="1170000"/>
            <a:ext cx="2952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理论目标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9999" y="1458000"/>
            <a:ext cx="2952000" cy="18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将自然语言图任务转化为结构化规划和可执行求解链路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0000" y="1080000"/>
            <a:ext cx="3204000" cy="2304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6000" y="1170000"/>
            <a:ext cx="2952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Microsoft YaHei"/>
              </a:rPr>
              <a:t>系统目标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2000" y="1458000"/>
            <a:ext cx="2952000" cy="18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实现多智能体协同、共享黑板、执行验证与反馈恢复机制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000" y="3996000"/>
            <a:ext cx="9432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595959"/>
                </a:solidFill>
                <a:latin typeface="Microsoft YaHei"/>
              </a:rPr>
              <a:t>目标对应论文第3章方法设计、第4章系统实现、第5章实验验证。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机遇一：结构化规划降低复杂任务求解负担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2 目标内容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1152000"/>
            <a:ext cx="3744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143757"/>
                </a:solidFill>
                <a:latin typeface="Microsoft YaHei"/>
              </a:rPr>
              <a:t>自然语言图任务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1152000"/>
            <a:ext cx="3096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ED7D31"/>
                </a:solidFill>
                <a:latin typeface="Microsoft YaHei"/>
              </a:rPr>
              <a:t>伪代码规划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0" y="1152000"/>
            <a:ext cx="288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70AD47"/>
                </a:solidFill>
                <a:latin typeface="Microsoft YaHei"/>
              </a:rPr>
              <a:t>可执行程序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1800000"/>
            <a:ext cx="2880000" cy="1332000"/>
          </a:xfrm>
          <a:prstGeom prst="roundRect">
            <a:avLst/>
          </a:prstGeom>
          <a:solidFill>
            <a:srgbClr val="DDEB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0000" y="1800000"/>
            <a:ext cx="2880000" cy="1332000"/>
          </a:xfrm>
          <a:prstGeom prst="roundRect">
            <a:avLst/>
          </a:prstGeom>
          <a:solidFill>
            <a:srgbClr val="FFF2E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6000" y="1800000"/>
            <a:ext cx="2880000" cy="1332000"/>
          </a:xfrm>
          <a:prstGeom prst="roundRect">
            <a:avLst/>
          </a:prstGeom>
          <a:solidFill>
            <a:srgbClr val="EBF7E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4000" y="1998000"/>
            <a:ext cx="24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识别任务类型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抽取图结构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整理约束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998000"/>
            <a:ext cx="24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明确算法步骤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显式表达目标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连接知识检索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1998000"/>
            <a:ext cx="24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调用图算法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执行与验证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输出答案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6000" y="2224800"/>
            <a:ext cx="36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>
                <a:solidFill>
                  <a:srgbClr val="ED7D31"/>
                </a:solidFill>
                <a:latin typeface="Microsoft YaHe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8000" y="2224800"/>
            <a:ext cx="36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>
                <a:solidFill>
                  <a:srgbClr val="ED7D31"/>
                </a:solidFill>
                <a:latin typeface="Microsoft YaHe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" y="4104000"/>
            <a:ext cx="936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143757"/>
                </a:solidFill>
                <a:latin typeface="Microsoft YaHei"/>
              </a:rPr>
              <a:t>规划层的价值：把模型难以一次完成的复合任务拆解为可消费的中间语义。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挑战一：如何将自然语言图任务结构化解耦？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2 目标内容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" y="1080000"/>
            <a:ext cx="3204000" cy="2448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000" y="1170000"/>
            <a:ext cx="2952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Microsoft YaHei"/>
              </a:rPr>
              <a:t>输入复杂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4000" y="1458000"/>
            <a:ext cx="2952000" cy="19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图结构、任务目标和输出格式混在自然语言中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节点、边、权重、方向等信息易遗漏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6000" y="1080000"/>
            <a:ext cx="3204000" cy="2448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2000" y="1170000"/>
            <a:ext cx="2952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约束复杂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8000" y="1458000"/>
            <a:ext cx="2952000" cy="19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路径闭合、节点唯一访问、容量限制、时间窗口等条件并存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单轮生成难以完整覆盖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0" y="1080000"/>
            <a:ext cx="3204000" cy="2448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000" y="1170000"/>
            <a:ext cx="2952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C0504D"/>
                </a:solidFill>
                <a:latin typeface="Microsoft YaHei"/>
              </a:rPr>
              <a:t>解法复杂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2000" y="1458000"/>
            <a:ext cx="2952000" cy="19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不同任务需要映射到不同算法族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算法选择错误会导致后续全部偏移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机遇二：规划引导检索可提升知识匹配精度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2 目标内容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6000" y="1080000"/>
          <a:ext cx="8208000" cy="15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1512000"/>
                <a:gridCol w="1512000"/>
                <a:gridCol w="1512000"/>
                <a:gridCol w="151200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查询方式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Hit@1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Hit@3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Hit@5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MRR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原始问题文本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42.6%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61.8%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72.9%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51.4%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任务类型+关键词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68.9%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84.7%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92.1%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76.3%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规划伪代码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76.4%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90.8%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96.3%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83.5%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规划+结构约束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82.1%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94.2%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98.0%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88.4%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12000" y="1224000"/>
            <a:ext cx="2592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规划压缩了原始问题噪声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结构约束标签提升排序质量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知识检索从“相关文本”转向“求解步骤依据”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挑战二：如何避免知识调用和程序生成偏差？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2 目标内容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1152000"/>
            <a:ext cx="46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相似图算法 API 容易被误选或误用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边权、方向、容量、时间等实现细节容易丢失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程序能够运行但未必满足题目约束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无验证的修复可能造成重复生成和错误强化</a:t>
            </a:r>
          </a:p>
        </p:txBody>
      </p:sp>
      <p:pic>
        <p:nvPicPr>
          <p:cNvPr id="10" name="Picture 9" descr="fig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0" y="1080000"/>
            <a:ext cx="4320000" cy="273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研究内容：围绕 PlanGraph 闭环展开三项工作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2 目标内容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16</a:t>
            </a:r>
          </a:p>
        </p:txBody>
      </p:sp>
      <p:pic>
        <p:nvPicPr>
          <p:cNvPr id="9" name="Picture 8" descr="research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80000"/>
            <a:ext cx="4536000" cy="2808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0" y="1007999"/>
            <a:ext cx="4392000" cy="882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86000" y="1098000"/>
            <a:ext cx="4140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Microsoft YaHei"/>
              </a:rPr>
              <a:t>内容一：规划反馈方法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2000" y="1385999"/>
            <a:ext cx="41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任务解析、伪代码规划、规划引导检索、执行验证与反馈修复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000" y="2088000"/>
            <a:ext cx="4392000" cy="882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6000" y="2178000"/>
            <a:ext cx="4140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内容二：多智能体系统实现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2000" y="2466000"/>
            <a:ext cx="41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主控调度、共享黑板、中间工件、异常恢复与任务适配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000" y="3168000"/>
            <a:ext cx="4392000" cy="882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6000" y="3258000"/>
            <a:ext cx="4140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Microsoft YaHei"/>
              </a:rPr>
              <a:t>内容三：系统实验验证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2000" y="3546000"/>
            <a:ext cx="41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五个公开基准、分层分析、检索验证、鲁棒性、消融和案例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3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404000"/>
            <a:ext cx="7920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400" b="1">
                <a:solidFill>
                  <a:srgbClr val="ED7D31"/>
                </a:solidFill>
                <a:latin typeface="Microsoft YaHe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28000" y="1314000"/>
            <a:ext cx="6660000" cy="52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Microsoft YaHei"/>
              </a:rPr>
              <a:t>技术路线、系统实现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4000" y="1900800"/>
            <a:ext cx="738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DDEBF7"/>
                </a:solidFill>
                <a:latin typeface="Microsoft YaHei"/>
              </a:rPr>
              <a:t>说明 PlanGraph 如何工作以及如何落地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8000" y="6408000"/>
            <a:ext cx="792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DDEBF7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总体框架：规划、检索、验证构成反馈闭环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3 技术路线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18</a:t>
            </a:r>
          </a:p>
        </p:txBody>
      </p:sp>
      <p:pic>
        <p:nvPicPr>
          <p:cNvPr id="9" name="Picture 8" descr="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936000"/>
            <a:ext cx="7200000" cy="36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80000" y="1080000"/>
            <a:ext cx="2880000" cy="24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1E1E1E"/>
                </a:solidFill>
                <a:latin typeface="Microsoft YaHei"/>
              </a:defRPr>
            </a:pPr>
            <a:r>
              <a:t>问题智能体：结构化解析任务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1E1E1E"/>
                </a:solidFill>
                <a:latin typeface="Microsoft YaHei"/>
              </a:defRPr>
            </a:pPr>
            <a:r>
              <a:t>规划智能体：生成算法级伪代码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1E1E1E"/>
                </a:solidFill>
                <a:latin typeface="Microsoft YaHei"/>
              </a:defRPr>
            </a:pPr>
            <a:r>
              <a:t>检索智能体：召回图算法知识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1E1E1E"/>
                </a:solidFill>
                <a:latin typeface="Microsoft YaHei"/>
              </a:defRPr>
            </a:pPr>
            <a:r>
              <a:t>编码智能体：生成候选程序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1E1E1E"/>
                </a:solidFill>
                <a:latin typeface="Microsoft YaHei"/>
              </a:defRPr>
            </a:pPr>
            <a:r>
              <a:t>验证反馈：测试、修复与重生成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任务解析与规划生成：把问题转为算法级伪代码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3 技术路线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0000" y="1080000"/>
          <a:ext cx="9720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3240000"/>
                <a:gridCol w="468000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输入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输出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任务解析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自然语言问题 + 图结构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任务类型、图标签、约束集合、输出格式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规划生成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结构化任务表示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算法步骤、关键约束、候选算法族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规划修正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验证或检索反馈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细化后的规划工件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80000" y="3420000"/>
            <a:ext cx="9432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143757"/>
                </a:solidFill>
                <a:latin typeface="Microsoft YaHei"/>
              </a:rPr>
              <a:t>规划不是答案，而是后续检索、编码和验证共同使用的中间锚点。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规划引导检索：从算法步骤召回实现知识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3 技术路线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152000"/>
            <a:ext cx="4464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以规划伪代码、任务类型和结构约束构造查询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从 3349 条图算法知识条目中召回 API 与实现注意事项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通过质量评估触发片段精炼或补充检索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将知识工件写入共享黑板供编码阶段使用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0000" y="1080000"/>
            <a:ext cx="3888000" cy="2304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6000" y="1170000"/>
            <a:ext cx="3636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设计要点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2000" y="1458000"/>
            <a:ext cx="3636000" cy="18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规划约束检索目标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检索补充实现细节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质量评估降低无关知识进入编码阶段的概率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验证推理闭环：用执行结果反向修正实现偏差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3 技术路线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21</a:t>
            </a:r>
          </a:p>
        </p:txBody>
      </p:sp>
      <p:pic>
        <p:nvPicPr>
          <p:cNvPr id="9" name="Picture 8" descr="fig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07999"/>
            <a:ext cx="5148000" cy="316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80000" y="1116000"/>
            <a:ext cx="41040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候选程序必须通过执行测试和约束检查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错误反馈驱动局部修复、补充检索或重生成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有界重试避免无方向反复生成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最终输出经过格式化与答案一致性检查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系统总体架构：主控调度器组织多智能体协同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3 系统实现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22</a:t>
            </a:r>
          </a:p>
        </p:txBody>
      </p:sp>
      <p:pic>
        <p:nvPicPr>
          <p:cNvPr id="9" name="Picture 8" descr="System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900000"/>
            <a:ext cx="7560000" cy="381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68000" y="1080000"/>
            <a:ext cx="2592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输入与任务建模层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主控调度层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多智能体执行层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共享状态与支撑资源层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主控调度与共享黑板：保证过程可追踪、可恢复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3 系统实现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23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0000" y="1044000"/>
          <a:ext cx="9072000" cy="15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000"/>
                <a:gridCol w="2520000"/>
                <a:gridCol w="2520000"/>
                <a:gridCol w="252000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主要输入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产出工件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失败恢复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PARSE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原始问题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结构化任务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重新解析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PLAN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任务工件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规划工件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重新规划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RETRIEVE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规划工件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知识工件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补充检索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VERIFY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候选程序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验证反馈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局部修复/重生成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80000" y="3708000"/>
            <a:ext cx="93600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143757"/>
                </a:solidFill>
                <a:latin typeface="Microsoft YaHei"/>
              </a:rPr>
              <a:t>共享黑板记录阶段事件和工件索引，使失败定位和实验复核建立在真实运行证据上。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运行配置：用边界条件约束反馈成本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3 系统实现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24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80000" y="972000"/>
          <a:ext cx="9180000" cy="24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1440000"/>
                <a:gridCol w="522000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配置项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默认值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检索返回条数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控制候选知识范围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最大局部修复轮数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控制反馈闭环深度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最大重生成轮数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限制失败后探索成本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最大规划尝试次数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限制上游反复规划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最大检索尝试次数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控制补充检索次数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单次执行超时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15 秒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避免复杂搜索失控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随机种子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42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支撑实验复现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任务适配：稳定主流程支持不同图任务扩展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3 系统实现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" y="1080000"/>
            <a:ext cx="3168000" cy="2232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000" y="1170000"/>
            <a:ext cx="2916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Microsoft YaHei"/>
              </a:rPr>
              <a:t>稳定主流程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4000" y="1458000"/>
            <a:ext cx="2916000" cy="178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解析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规划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检索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编码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验证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1080000"/>
            <a:ext cx="3168000" cy="2232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8000" y="1170000"/>
            <a:ext cx="2916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可替换任务知识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999" y="1458000"/>
            <a:ext cx="2916000" cy="178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图类型标签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约束集合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算法族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规划模板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验证规则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2000" y="1080000"/>
            <a:ext cx="3168000" cy="2232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8000" y="1170000"/>
            <a:ext cx="2916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Microsoft YaHei"/>
              </a:rPr>
              <a:t>扩展方式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3999" y="1458000"/>
            <a:ext cx="2916000" cy="178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补充任务标签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注册验证规则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扩展知识条目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保持调度器不变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6000" y="3960000"/>
            <a:ext cx="972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143757"/>
                </a:solidFill>
                <a:latin typeface="Microsoft YaHei"/>
              </a:rPr>
              <a:t>扩展性来自主流程、任务适配器和验证规则之间的职责分离。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3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404000"/>
            <a:ext cx="7920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400" b="1">
                <a:solidFill>
                  <a:srgbClr val="ED7D31"/>
                </a:solidFill>
                <a:latin typeface="Microsoft YaHe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28000" y="1314000"/>
            <a:ext cx="6660000" cy="52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Microsoft YaHei"/>
              </a:rPr>
              <a:t>实验验证、总结展望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4000" y="1900800"/>
            <a:ext cx="738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DDEBF7"/>
                </a:solidFill>
                <a:latin typeface="Microsoft YaHei"/>
              </a:rPr>
              <a:t>用结果证明方法有效，并给出贡献与边界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8000" y="6408000"/>
            <a:ext cx="792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DDEBF7"/>
                </a:solidFill>
                <a:latin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实验设置：五个公开图推理基准覆盖多类任务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 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27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0000" y="1007999"/>
          <a:ext cx="9540000" cy="183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3600000"/>
                <a:gridCol w="4140000"/>
              </a:tblGrid>
              <a:tr h="305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基准测试集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侧重点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代表任务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</a:tr>
              <a:tr h="30599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GraphArena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经典图问题与组合优化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连通性、最大团、旅行商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599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NLGraph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自然语言图算法推理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最短路径、最大流、拓扑排序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  <a:tr h="30599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GraphWiz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指令式图推理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哈密顿路径、子图匹配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599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LLM4DyG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动态图与时间约束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时序路径、动态邻居查询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  <a:tr h="30600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GraphInstruct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图指令跟随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邻居查询、遍历、连通性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80000" y="3996000"/>
            <a:ext cx="9360000" cy="2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595959"/>
                </a:solidFill>
                <a:latin typeface="Microsoft YaHei"/>
              </a:rPr>
              <a:t>主指标：精确匹配率（Exact Match, EM）；失败、超时、格式错误均计入统计。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对比方法与实现设置：固定口径评估方法本身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 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1080000"/>
            <a:ext cx="2520000" cy="2340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6000" y="1170000"/>
            <a:ext cx="2268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Microsoft YaHei"/>
              </a:rPr>
              <a:t>对比方法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000" y="1458000"/>
            <a:ext cx="2268000" cy="18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GPT-4o 直接推理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GraphTeam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GCoder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公开最优结果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1999" y="1080000"/>
            <a:ext cx="3168000" cy="2340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7999" y="1170000"/>
            <a:ext cx="2916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实现环境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3999" y="1458000"/>
            <a:ext cx="2916000" cy="18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GPT-4o 基座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Python + NetworkX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温度 0.2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最大输出 2048 tokens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43999" y="1080000"/>
            <a:ext cx="3311999" cy="2340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000" y="1170000"/>
            <a:ext cx="3060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Microsoft YaHei"/>
              </a:rPr>
              <a:t>公平设置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5999" y="1458000"/>
            <a:ext cx="3060000" cy="18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固定数据划分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固定样本顺序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固定模型版本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统一答案判定规则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总体结果：PlanGraph 在四个基准上取得最优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 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29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0000" y="936000"/>
          <a:ext cx="8784000" cy="21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936000"/>
                <a:gridCol w="1296000"/>
                <a:gridCol w="1368000"/>
                <a:gridCol w="1260000"/>
                <a:gridCol w="1404000"/>
                <a:gridCol w="108000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基准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任务数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GPT-4o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GraphTeam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GCoder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PlanGraph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提升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GraphArena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49.08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95.14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94.27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97.74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+2.60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NLGraph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51.40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97.71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96.90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98.72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+1.01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GraphWiz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47.61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88.62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90.20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97.01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+6.81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LLM4DyG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58.04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96.35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93.78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96.11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-0.24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GraphInstruct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21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51.14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93.48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92.56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94.87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+1.39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平均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--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51.45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94.26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93.54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96.89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E1E"/>
                          </a:solidFill>
                          <a:latin typeface="Microsoft YaHei"/>
                        </a:rPr>
                        <a:t>+2.31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80000" y="3671999"/>
            <a:ext cx="91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GraphWiz 提升最明显，说明规划反馈对算法约束强、路径搜索复杂的任务尤为有效。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LLM4DyG 略低于 GraphTeam，提示动态图细粒度时序规划仍有改进空间。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任务类别分析：哈密顿类任务收益最明显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 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30</a:t>
            </a:r>
          </a:p>
        </p:txBody>
      </p:sp>
      <p:pic>
        <p:nvPicPr>
          <p:cNvPr id="9" name="Picture 8" descr="exp_category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07999"/>
            <a:ext cx="5832000" cy="316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20000" y="1080000"/>
            <a:ext cx="37800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五类任务上均取得最高精确匹配率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哈密顿类任务平均 EM 95.33%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相比最佳现有方法提升 21.03 个百分点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优势来自约束显式化与可执行验证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复杂度分析：NP 完全与困难样本更能体现闭环价值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 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31</a:t>
            </a:r>
          </a:p>
        </p:txBody>
      </p:sp>
      <p:pic>
        <p:nvPicPr>
          <p:cNvPr id="9" name="Picture 8" descr="exp_complexit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80000"/>
            <a:ext cx="4968000" cy="3024000"/>
          </a:xfrm>
          <a:prstGeom prst="rect">
            <a:avLst/>
          </a:prstGeom>
        </p:spPr>
      </p:pic>
      <p:pic>
        <p:nvPicPr>
          <p:cNvPr id="10" name="Picture 9" descr="exp_sample_difficult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1080000"/>
            <a:ext cx="4320000" cy="302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0000" y="4176000"/>
            <a:ext cx="936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43757"/>
                </a:solidFill>
                <a:latin typeface="Microsoft YaHei"/>
              </a:rPr>
              <a:t>结论：简单任务差距较小；进入 NP 完全或大图困难样本后，规划、检索与验证的协同收益更加明显。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稳定性与检索质量：规划同时支撑检索和恢复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 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8000" y="1044000"/>
          <a:ext cx="6660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000"/>
                <a:gridCol w="1548000"/>
                <a:gridCol w="1620000"/>
                <a:gridCol w="180000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数据集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EM 波动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首次通过率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修复后收敛率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GraphArena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±0.7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79.6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91.4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NLGraph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±0.5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82.3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93.1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GraphWiz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±0.9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74.8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89.7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40000" y="1044000"/>
          <a:ext cx="4464000" cy="15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1296000"/>
                <a:gridCol w="129600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查询方式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Hit@5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MRR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原始问题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72.9%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51.4%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任务+关键词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92.1%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76.3%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规划伪代码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96.3%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83.5%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规划+约束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98.0%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88.4%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80000" y="3960000"/>
            <a:ext cx="936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43757"/>
                </a:solidFill>
                <a:latin typeface="Microsoft YaHei"/>
              </a:rPr>
              <a:t>规划既是检索查询的结构化表达，也是验证修复时定位错误的中间锚点。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参数与工程开销：反馈深度需要适度控制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 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33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3999" y="936000"/>
          <a:ext cx="7271999" cy="15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999"/>
                <a:gridCol w="1368000"/>
                <a:gridCol w="1368000"/>
                <a:gridCol w="1440000"/>
                <a:gridCol w="144000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参数(k,r)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总体EM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困难EM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平均修复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耗时(s)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(1,0)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70.00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55.00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0.00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13.80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(3,1)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74.17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63.75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0.36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15.20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(7,3)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73.75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66.25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0.88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17.60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(5,4)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71.25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65.00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1.14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20.90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16000" y="936000"/>
          <a:ext cx="4680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1080000"/>
                <a:gridCol w="1080000"/>
                <a:gridCol w="108000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任务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耗时(s)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生成轮数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验证次数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最短路径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10.8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1.1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1.3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最大流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14.6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1.3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1.8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旅行商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24.3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1.8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2.7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80000" y="3671999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1E1E1E"/>
                </a:solidFill>
                <a:latin typeface="Microsoft YaHei"/>
              </a:defRPr>
            </a:pPr>
            <a:r>
              <a:t>无反馈修复时困难样本准确率明显下降；继续增大检索条数和修复轮数收益趋于饱和。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1E1E1E"/>
                </a:solidFill>
                <a:latin typeface="Microsoft YaHei"/>
              </a:defRPr>
            </a:pPr>
            <a:r>
              <a:t>组合优化任务开销更高，但换来更可信的约束满足与结果验证。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鲁棒性分析：输入扰动下仍保持高准确率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 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34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0" y="1080000"/>
          <a:ext cx="7920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1800000"/>
                <a:gridCol w="1800000"/>
                <a:gridCol w="180000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扰动类型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GPT-4o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GraphTeam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PlanGraph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节点顺序打乱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51.6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92.4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96.8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边描述改写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48.9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91.1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95.7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输出格式切换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44.3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89.8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94.9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512000" y="3348000"/>
            <a:ext cx="8820000" cy="5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143757"/>
                </a:solidFill>
                <a:latin typeface="Microsoft YaHei"/>
              </a:rPr>
              <a:t>原因：问题智能体先规整输入表达，程序执行结果在最终答案生成前还会经过格式化处理。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消融实验：规划模块、检索模块、验证模块均有贡献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 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35</a:t>
            </a:r>
          </a:p>
        </p:txBody>
      </p:sp>
      <p:pic>
        <p:nvPicPr>
          <p:cNvPr id="9" name="Picture 8" descr="exp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07999"/>
            <a:ext cx="5760000" cy="316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12000" y="1152000"/>
            <a:ext cx="38160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去除规划模块后下降最明显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去除验证模块后 GraphWiz 从 97.01% 降至 90.72%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检索模块提升相对温和但稳定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三者共同形成完整求解闭环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案例分析：旅行商问题中的规划反馈求解过程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 实验验证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36</a:t>
            </a:r>
          </a:p>
        </p:txBody>
      </p:sp>
      <p:pic>
        <p:nvPicPr>
          <p:cNvPr id="9" name="Picture 8" descr="cas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" y="972000"/>
            <a:ext cx="5400000" cy="334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80000" y="1116000"/>
            <a:ext cx="4176000" cy="23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样例：五节点带权无向图，从 A 出发访问所有节点并返回起点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规划显式表达哈密顿回路约束和总代价最小化目标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验证检查节点覆盖、路径闭合、边合法性和代价计算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3600000"/>
            <a:ext cx="4104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Microsoft YaHei"/>
              </a:rPr>
              <a:t>最终路径：A → B → E → D → C → A，总代价 14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误差分析：当前方法的主要边界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 总结展望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37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0000" y="1007999"/>
          <a:ext cx="9000000" cy="183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4320000"/>
                <a:gridCol w="2880000"/>
              </a:tblGrid>
              <a:tr h="305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错误类型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具体表现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主要影响阶段</a:t>
                      </a:r>
                    </a:p>
                  </a:txBody>
                  <a:tcPr marL="28800" marR="28800" marT="14400" marB="14400">
                    <a:solidFill>
                      <a:srgbClr val="1F4E79"/>
                    </a:solidFill>
                  </a:tcPr>
                </a:tc>
              </a:tr>
              <a:tr h="30599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任务识别偏差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判定任务与优化任务混淆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规划阶段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599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约束遗漏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忽略起点、回路、时间窗口等限制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规划/编码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  <a:tr h="30599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API 误用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函数语义相近但约束不匹配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检索/编码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  <a:tr h="30599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边界情况失效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验证样例未覆盖特殊结构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验证阶段</a:t>
                      </a:r>
                    </a:p>
                  </a:txBody>
                  <a:tcPr marL="28800" marR="28800" marT="14400" marB="14400">
                    <a:solidFill>
                      <a:srgbClr val="FFFFFF"/>
                    </a:solidFill>
                  </a:tcPr>
                </a:tc>
              </a:tr>
              <a:tr h="30600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输出格式错误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路径、集合或文本格式不符合脚本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  <a:latin typeface="Microsoft YaHei"/>
                        </a:rPr>
                        <a:t>答案生成</a:t>
                      </a:r>
                    </a:p>
                  </a:txBody>
                  <a:tcPr marL="28800" marR="28800" marT="14400" marB="14400">
                    <a:solidFill>
                      <a:srgbClr val="F1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论文总结：本文完成了从方法到系统再到验证的闭环研究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 总结展望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080000"/>
            <a:ext cx="990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系统分析了大语言模型在图推理中的结构理解、约束建模、算法映射和程序执行困难。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提出 PlanGraph 框架，将规划生成、知识检索、程序生成、执行验证和反馈修复组织为协同闭环。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实现了主控调度、共享黑板、中间工件、异常恢复和任务适配等系统机制。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在五个公开图推理基准上完成系统评估，平均 EM 达到 96.89%，较最佳现有方法平均提升 2.31 个百分点。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主要创新点：规划反馈驱动的图推理协同求解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 总结展望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1080000"/>
            <a:ext cx="3240000" cy="2412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6000" y="1170000"/>
            <a:ext cx="2988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Microsoft YaHei"/>
              </a:rPr>
              <a:t>创新点一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000" y="1458000"/>
            <a:ext cx="2988000" cy="19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提出基于规划反馈的图推理协同框架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使规划前向约束检索与编码，反馈反向修正实现偏差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1080000"/>
            <a:ext cx="3240000" cy="2412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8000" y="1170000"/>
            <a:ext cx="2988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创新点二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999" y="1458000"/>
            <a:ext cx="2988000" cy="19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提出伪代码规划引导的知识检索机制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将原始自然语言查询转化为更贴近算法步骤的结构化查询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3999" y="1080000"/>
            <a:ext cx="3240000" cy="2412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0000" y="1170000"/>
            <a:ext cx="2988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Microsoft YaHei"/>
              </a:rPr>
              <a:t>创新点三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5999" y="1458000"/>
            <a:ext cx="2988000" cy="19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构建执行验证与反馈推理闭环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通过测试、约束检查和有界修复提升程序化图推理可靠性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15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5200"/>
            <a:ext cx="1548000" cy="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234000"/>
            <a:ext cx="88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43757"/>
                </a:solidFill>
                <a:latin typeface="Microsoft YaHei"/>
              </a:rPr>
              <a:t>不足与展望：面向更复杂图任务继续增强中间表示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691200"/>
            <a:ext cx="1332000" cy="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8000" y="270000"/>
            <a:ext cx="1872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 总结展望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2000" y="6516000"/>
            <a:ext cx="648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Microsoft YaHei"/>
              </a:rPr>
              <a:t>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1080000"/>
            <a:ext cx="3168000" cy="2340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6000" y="1170000"/>
            <a:ext cx="2916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Microsoft YaHei"/>
              </a:rPr>
              <a:t>规划表示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000" y="1458000"/>
            <a:ext cx="2916000" cy="18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增强对复杂时间依赖、动态图演化和异构关系的表达能力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080000"/>
            <a:ext cx="3168000" cy="2340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6000" y="1170000"/>
            <a:ext cx="2916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知识检索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2000" y="1458000"/>
            <a:ext cx="2916000" cy="18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利用失败反馈驱动知识重排序和补充检索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0" y="1080000"/>
            <a:ext cx="3168000" cy="2340000"/>
          </a:xfrm>
          <a:prstGeom prst="roundRect">
            <a:avLst/>
          </a:prstGeom>
          <a:solidFill>
            <a:srgbClr val="FAFC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000" y="1170000"/>
            <a:ext cx="2916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Microsoft YaHei"/>
              </a:rPr>
              <a:t>验证机制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2000" y="1458000"/>
            <a:ext cx="2916000" cy="18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00">
                <a:solidFill>
                  <a:srgbClr val="1E1E1E"/>
                </a:solidFill>
                <a:latin typeface="Microsoft YaHei"/>
              </a:defRPr>
            </a:pPr>
            <a:r>
              <a:t>构造更具代表性的边界样例，提升约束覆盖度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3960000"/>
            <a:ext cx="936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143757"/>
                </a:solidFill>
                <a:latin typeface="Microsoft YaHei"/>
              </a:rPr>
              <a:t>展望重点是增强中间表示与约束检查质量，而不是简单增加生成次数。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3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2160000"/>
            <a:ext cx="9000000" cy="503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感谢各位评委老师！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3024000"/>
            <a:ext cx="900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200" b="0">
                <a:solidFill>
                  <a:srgbClr val="DDEBF7"/>
                </a:solidFill>
                <a:latin typeface="Microsoft YaHei"/>
              </a:rPr>
              <a:t>请大家提出宝贵意见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
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d32b0345ae41ed" /><Relationship Type="http://schemas.openxmlformats.org/officeDocument/2006/relationships/extended-properties" Target="/docProps/app.xml" Id="R20cb162e88d94702" /><Relationship Type="http://schemas.openxmlformats.org/officeDocument/2006/relationships/officeDocument" Target="/ppt/presentation.xml" Id="R15eebe3c3d864a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0ba81389934485"/>
  </p:sldMasterIdLst>
  <p:notesMasterIdLst>
    <p:notesMasterId xmlns:r="http://schemas.openxmlformats.org/officeDocument/2006/relationships" r:id="R5584495c7dbc498c"/>
  </p:notesMasterIdLst>
  <p:sldIdLst>
    <p:sldId xmlns:r="http://schemas.openxmlformats.org/officeDocument/2006/relationships" id="256" r:id="R4f027a89874042de"/>
    <p:sldId xmlns:r="http://schemas.openxmlformats.org/officeDocument/2006/relationships" id="257" r:id="R5ef9c7f8032b4ce4"/>
    <p:sldId xmlns:r="http://schemas.openxmlformats.org/officeDocument/2006/relationships" id="258" r:id="R9237ae31001e4b2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ba81389934485" /><Relationship Type="http://schemas.openxmlformats.org/officeDocument/2006/relationships/theme" Target="/ppt/theme/theme1.xml" Id="R86e869ab68784c71" /><Relationship Type="http://schemas.openxmlformats.org/officeDocument/2006/relationships/notesMaster" Target="/ppt/notesMasters/notesMaster1.xml" Id="R5584495c7dbc498c" /><Relationship Type="http://schemas.openxmlformats.org/officeDocument/2006/relationships/presProps" Target="/ppt/presProps.xml" Id="R189c5eeb8994416d" /><Relationship Type="http://schemas.openxmlformats.org/officeDocument/2006/relationships/viewProps" Target="/ppt/viewProps.xml" Id="Rdae63e56e4fd4394" /><Relationship Type="http://schemas.openxmlformats.org/officeDocument/2006/relationships/tableStyles" Target="/ppt/tableStyles.xml" Id="R849f4c2fbdc04c11" /><Relationship Type="http://schemas.openxmlformats.org/officeDocument/2006/relationships/slide" Target="/ppt/slides/slide1.xml" Id="R4f027a89874042de" /><Relationship Type="http://schemas.openxmlformats.org/officeDocument/2006/relationships/slide" Target="/ppt/slides/slide2.xml" Id="R5ef9c7f8032b4ce4" /><Relationship Type="http://schemas.openxmlformats.org/officeDocument/2006/relationships/slide" Target="/ppt/slides/slide3.xml" Id="R9237ae31001e4b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aecd9718d447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d76e8656b4a42" /><Relationship Type="http://schemas.openxmlformats.org/officeDocument/2006/relationships/notesMaster" Target="/ppt/notesMasters/notesMaster1.xml" Id="Rc24d2519152940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716a952cc9466d" /><Relationship Type="http://schemas.openxmlformats.org/officeDocument/2006/relationships/notesMaster" Target="/ppt/notesMasters/notesMaster1.xml" Id="R51f8097762a644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312e0f8b84258" /><Relationship Type="http://schemas.openxmlformats.org/officeDocument/2006/relationships/notesMaster" Target="/ppt/notesMasters/notesMaster1.xml" Id="Rd7f531d2d47542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64d36089442a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76c221632d24785" /><Relationship Type="http://schemas.openxmlformats.org/officeDocument/2006/relationships/slideLayout" Target="/ppt/slideLayouts/slideLayout2.xml" Id="Rf7f3509b929b4c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f3509b929b4c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0d610a94c94a27" /><Relationship Type="http://schemas.openxmlformats.org/officeDocument/2006/relationships/notesSlide" Target="/ppt/notesSlides/notesSlide1.xml" Id="Re37dca3264c241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1f2673d7524ca7" /><Relationship Type="http://schemas.openxmlformats.org/officeDocument/2006/relationships/notesSlide" Target="/ppt/notesSlides/notesSlide2.xml" Id="Rf96e35b8d65e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45cd4bc6d4fbe" /><Relationship Type="http://schemas.openxmlformats.org/officeDocument/2006/relationships/notesSlide" Target="/ppt/notesSlides/notesSlide3.xml" Id="Re52cf1872de64a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FB59A-9A19-4AD7-9CBB-24FC49D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48352-CD5C-4725-8933-6DF45033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3B82D-6544-4EF5-9F95-286D9263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机遇与挑战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75E0A-F9AF-4B73-94E6-50839C5E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3CEC1-73F8-4FAF-983C-C1288906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机遇一：复杂图任务可通过显式规划进行结构化拆解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CA9C1-0662-40EC-91B5-0ACE364C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把原始长文本输入转化为任务目标、图结构、约束条件和伪代码步骤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7D7F2-53FB-4318-A907-6C03284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01A1F-C475-43FB-B120-43DFFFDD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不足点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9F42D-F8F0-4BA7-8E83-FA87F19D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端到端推理在长序列图结构输入下，拓扑理解与约束推理不稳定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20EDC-70FA-46A6-9C11-150DAD1D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813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AADB7-4B4C-4D5B-A611-2D166562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8765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自然语言</a:t>
            </a:r>
          </a:p>
          <a:p xmlns:a="http://schemas.openxmlformats.org/drawingml/2006/main">
            <a:pPr algn="ctr">
              <a:def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图任务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D7FD9-3FAD-40CC-A948-66B8B6F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956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9C0BC-7089-47E5-B389-8757D03D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432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B78F5-E2BC-4571-89FF-0494FA55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A7BF9-C303-4592-B7CD-3A026880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765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结构化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任务表示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3BA77-09D0-4427-BC9D-CB24ED2D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956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8617F-AF6B-454C-88EA-5885052F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FBE199-3C5C-4070-BDAF-5A5CB7E8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E8243-3B78-4F21-A4B5-196360CE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76550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伪代码</a:t>
            </a:r>
          </a:p>
          <a:p xmlns:a="http://schemas.openxmlformats.org/drawingml/2006/main">
            <a:pPr algn="ctr">
              <a:def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709A7D-93ED-4145-8579-E793C6F3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957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C7BA6-E450-4C35-9899-BBF828C0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任务类型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952EE-CC20-4F07-8347-1EE06835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957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0708C-9AC2-4403-855C-10C34E4D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91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节点/边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5CB8A-1593-4CEC-9F59-DBB271AF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957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6B4E4-D19C-4F95-9BCB-362BC151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91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权重/方向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4326F8-33D3-4BFF-B393-163D13C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957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00F87-1405-4458-A3E0-466F26E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起止条件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DC75F0-4F50-4EC8-8E5B-3C8AA1CF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92E689-2CA7-4F73-9B17-02A72AEF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输出格式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3FE286-2776-4F5F-A310-5AB2DDA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56C9B0-5A8D-4EE2-A9AC-FD68F92E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挑战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2B491-E670-4F66-9AD3-F22EE113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如何将自然语言图任务稳定映射为可执行规划？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AB3CA1-785B-43EA-A95D-2C7686C4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6705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答辩表达重点：规划不是普通思维链，而是连接任务语义、算法步骤和程序实现的中间层。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7DE05-0C01-4E2D-89B4-1CB437A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参考思路：GraphArena 揭示复杂图任务下 LLM 幻觉问题；PIE 等工作说明伪代码中间表示对图计算任务有帮助。</a:t>
            </a:r>
          </a:p>
        </p:txBody>
      </p:sp>
    </p:spTree>
    <p:extLst>
      <p:ext uri="{BB962C8B-B14F-4D97-AF65-F5344CB8AC3E}">
        <p14:creationId xmlns:p14="http://schemas.microsoft.com/office/powerpoint/2010/main" val="689501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800DE-4B3E-4F47-B5D7-92960E9C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B0617-2132-4862-B570-5DE52157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63D13-27B0-4A04-BD15-D6FCA716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机遇与挑战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00819-0563-410F-8075-4A329970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FFCD1-079C-455A-B962-4DCAC175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机遇二：规划路径可作为外部知识检索的高效查询依据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03E52-F6A9-4B5C-842F-46B3A75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检索目标从原始问题文本转向算法步骤与结构化约束标签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1AC01-3BE3-4806-A301-30130493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37ABC-A13B-462A-B5B6-CCFB6BA9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不足点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80202-2921-4270-9850-B7108BC7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程序生成式图推理依赖历史样本或经验代码库，知识构建成本高、泛化受限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75641-F1E2-4CB8-842E-88CA351D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44174-88F7-4FB9-B283-C88AEF4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伪代码</a:t>
            </a:r>
          </a:p>
          <a:p xmlns:a="http://schemas.openxmlformats.org/drawingml/2006/main">
            <a:pPr algn="ctr">
              <a:def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规划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64210-795D-4C64-8B78-C8FA3E99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33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A03B6-BD71-4712-B3D5-336A7AB6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813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AA9DC-DDE2-4A41-9EE8-5A5BCAF1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BF114-1955-4F11-8F18-2D2C177A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图算法/API</a:t>
            </a:r>
          </a:p>
          <a:p xmlns:a="http://schemas.openxmlformats.org/drawingml/2006/main">
            <a:pPr algn="ctr">
              <a:def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知识库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54634-E39B-48BF-91C2-59AB375E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337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1AF9E-C51F-4EC6-B67C-052CA27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3DF90-0FBC-414D-8CED-B9CE6A18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19375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E11CF-335C-4DDC-BB97-FBF7A517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1462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Top-k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知识片段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BBC9E3-29C7-4580-9B14-F25941D5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7B364A-3204-416B-9447-96FBEDB6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规划步骤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36A2D-9048-4FC6-9CF5-D2A5A1DC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结构约束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7CB96-DD28-4925-87EB-656737EF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API 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8372D8-7A8D-412A-816E-FC7D6BF8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676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让检索结果围绕“当前算法要做什么、需要什么约束、如何实现”展开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C4FA5-9A47-4081-8E80-31A74CD0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CFD21E-F2C2-4A25-8C23-266BCAEB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挑战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0E17FC-14A3-4F27-AAD3-CDEA2179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如何让检索知识与算法步骤、任务约束保持一致？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5227F-732F-4ACB-8882-C97C9337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参考思路：GCoder 证明程序化求解有效；本文进一步用规划引导实时检索，减少对历史经验库的依赖。</a:t>
            </a:r>
          </a:p>
        </p:txBody>
      </p:sp>
    </p:spTree>
    <p:extLst>
      <p:ext uri="{BB962C8B-B14F-4D97-AF65-F5344CB8AC3E}">
        <p14:creationId xmlns:p14="http://schemas.microsoft.com/office/powerpoint/2010/main" val="8596262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79007-2020-463A-8EE7-D76E4FA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3A302-2F9A-4CAD-9721-8FBA5DF1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82989-118A-437B-8105-59B7DA5C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机遇与挑战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EAD42-AAE9-46E5-ABF9-5D23FF74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38175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AA5B1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B20F1-A4DA-4B0C-B477-ECA5AE07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机遇三：程序执行结果可作为错误定位与修复反馈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7F639-E9B8-47EF-B9E0-BDEF1C51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477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把生成错误从文本层面暴露到执行层面，再反向驱动修复和恢复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AA4B3-0C78-44A3-B3EB-904D3534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F4556-5065-469C-A06E-4779ECF9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1162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不足点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8C870-9BFE-4F03-83AD-AE800A2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11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现有多智能体方法偏重角色分工，缺少面向执行错误和约束遗漏的稳定闭环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6E782-3D90-43F5-9E2F-E3943C3D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8A5E1-3B9E-4F22-8A39-4ACA27A9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候选</a:t>
            </a:r>
          </a:p>
          <a:p xmlns:a="http://schemas.openxmlformats.org/drawingml/2006/main">
            <a:pPr algn="ctr">
              <a:def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5A8A"/>
                </a:solidFill>
                <a:latin typeface="PingFang SC"/>
                <a:ea typeface="PingFang SC"/>
                <a:cs typeface="PingFang SC"/>
              </a:rPr>
              <a:t>程序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A5B3E-A96C-4697-AA8D-B8A0470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82FB9-ACAC-4D3D-888E-E522AC6F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670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F4F7D-851A-44DA-B2AD-D9B6F9CE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F9564-1C19-48AF-A172-113BD9F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9875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执行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64B3B-6707-4040-9D2F-F34425C0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194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B4C625-A91F-4283-BF38-2962EB2D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670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2DBF0-F634-46C0-A150-9F1CDE9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1462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ABD52-12A9-4D70-B790-199421DB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809875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错误</a:t>
            </a:r>
          </a:p>
          <a:p xmlns:a="http://schemas.openxmlformats.org/drawingml/2006/main">
            <a:pPr algn="ctr">
              <a:defRPr sz="15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3F20C-279B-4394-A186-1AE114B9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194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D0DDA-9F7D-41A2-A651-E8165A06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51BA9-B276-41AD-95DC-CC17A58C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14625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34C6C-6CED-4966-BF5F-2E59581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09875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修复</a:t>
            </a:r>
          </a:p>
          <a:p xmlns:a="http://schemas.openxmlformats.org/drawingml/2006/main">
            <a:pPr algn="ctr">
              <a:def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恢复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D4782-DA6D-4F0F-BD07-7BCC4452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6324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8E0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AA0A8C-10F0-4F57-AE46-A86424A2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57625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C4E74-A05F-4602-BBE7-1255D12F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5287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语法错误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F27950-DFAF-4ABF-A4C2-2920B701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76AB0-113A-4BAA-8643-0B0E2AD9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5287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API 错误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FBE165-AE58-4E9D-A5E5-15A786DC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E86F2C-2B80-425D-B996-8C6EFC45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2318"/>
                </a:solidFill>
                <a:latin typeface="PingFang SC"/>
                <a:ea typeface="PingFang SC"/>
                <a:cs typeface="PingFang SC"/>
              </a:rPr>
              <a:t>约束遗漏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006B1-ADAD-46CE-A42C-2304120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57625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9D5D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B2BECC-9B10-4508-8881-6A97B79B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52875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格式偏差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DA61CE-389D-4F3F-BE13-34E409E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14750"/>
            <a:ext cx="1257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2"/>
          </a:solidFill>
          <a:ln xmlns:a="http://schemas.openxmlformats.org/drawingml/2006/main" w="9525">
            <a:solidFill>
              <a:srgbClr val="168C7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E684C-6223-4BF6-BCE2-5FB8C1D0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862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外部执行器</a:t>
            </a:r>
          </a:p>
          <a:p xmlns:a="http://schemas.openxmlformats.org/drawingml/2006/main">
            <a:pPr algn="ctr">
              <a:def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68C78"/>
                </a:solidFill>
                <a:latin typeface="PingFang SC"/>
                <a:ea typeface="PingFang SC"/>
                <a:cs typeface="PingFang SC"/>
              </a:rPr>
              <a:t>提供客观信号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C8CB07-FBF0-4757-97C0-99385E3B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B5E54A-5047-4A31-AD6F-2595379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挑战 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235173-277A-43BC-93A0-C536D47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如何通过执行反馈修正程序错误、约束遗漏和输出偏差？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2ECB0B-8385-45FB-BC2D-79A9A959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答辩表达重点：反馈不是重复生成，而是按错误类型选择局部修复、补充检索或有界重生成。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4BC983-B64F-4FD7-BCBA-51D5B47B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81700"/>
            <a:ext cx="990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675"/>
                </a:solidFill>
                <a:latin typeface="PingFang SC"/>
                <a:ea typeface="PingFang SC"/>
                <a:cs typeface="PingFang SC"/>
              </a:rPr>
              <a:t>参考思路：GraphTeam 体现多智能体协作价值；本文强调黑板调度、工件链和执行反馈恢复。</a:t>
            </a:r>
          </a:p>
        </p:txBody>
      </p:sp>
    </p:spTree>
    <p:extLst>
      <p:ext uri="{BB962C8B-B14F-4D97-AF65-F5344CB8AC3E}">
        <p14:creationId xmlns:p14="http://schemas.microsoft.com/office/powerpoint/2010/main" val="7948875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2026-05-31T07:28:06.0240000Z</dcterms:created>
  <dcterms:modified xsi:type="dcterms:W3CDTF">2026-05-31T07:28:06.0240000Z</dcterms:modified>
</coreProperties>
</file>
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3beaed0daa4fc5" /><Relationship Type="http://schemas.openxmlformats.org/officeDocument/2006/relationships/extended-properties" Target="/docProps/app.xml" Id="R68be4c17327c4842" /><Relationship Type="http://schemas.openxmlformats.org/officeDocument/2006/relationships/officeDocument" Target="/ppt/presentation.xml" Id="R6173abe24eb4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a685fbd364cc9"/>
  </p:sldMasterIdLst>
  <p:notesMasterIdLst>
    <p:notesMasterId xmlns:r="http://schemas.openxmlformats.org/officeDocument/2006/relationships" r:id="R0bebf04999584b9d"/>
  </p:notesMasterIdLst>
  <p:sldIdLst>
    <p:sldId xmlns:r="http://schemas.openxmlformats.org/officeDocument/2006/relationships" id="256" r:id="R698e4ecd88b84bf1"/>
    <p:sldId xmlns:r="http://schemas.openxmlformats.org/officeDocument/2006/relationships" id="257" r:id="Rbf62e8d952e14598"/>
    <p:sldId xmlns:r="http://schemas.openxmlformats.org/officeDocument/2006/relationships" id="258" r:id="R4dfcdf0ee6914d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a685fbd364cc9" /><Relationship Type="http://schemas.openxmlformats.org/officeDocument/2006/relationships/theme" Target="/ppt/theme/theme1.xml" Id="Rcc197a0359fe4867" /><Relationship Type="http://schemas.openxmlformats.org/officeDocument/2006/relationships/notesMaster" Target="/ppt/notesMasters/notesMaster1.xml" Id="R0bebf04999584b9d" /><Relationship Type="http://schemas.openxmlformats.org/officeDocument/2006/relationships/presProps" Target="/ppt/presProps.xml" Id="R631753651892404d" /><Relationship Type="http://schemas.openxmlformats.org/officeDocument/2006/relationships/viewProps" Target="/ppt/viewProps.xml" Id="Ra3e22dcc10c1448d" /><Relationship Type="http://schemas.openxmlformats.org/officeDocument/2006/relationships/tableStyles" Target="/ppt/tableStyles.xml" Id="R2c0c6f2e6dba4ff3" /><Relationship Type="http://schemas.openxmlformats.org/officeDocument/2006/relationships/slide" Target="/ppt/slides/slide1.xml" Id="R698e4ecd88b84bf1" /><Relationship Type="http://schemas.openxmlformats.org/officeDocument/2006/relationships/slide" Target="/ppt/slides/slide2.xml" Id="Rbf62e8d952e14598" /><Relationship Type="http://schemas.openxmlformats.org/officeDocument/2006/relationships/slide" Target="/ppt/slides/slide3.xml" Id="R4dfcdf0ee691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6edc23e8b6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30c282e4f94772" /><Relationship Type="http://schemas.openxmlformats.org/officeDocument/2006/relationships/notesMaster" Target="/ppt/notesMasters/notesMaster1.xml" Id="R2011c87ee99947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e9af0504394626" /><Relationship Type="http://schemas.openxmlformats.org/officeDocument/2006/relationships/notesMaster" Target="/ppt/notesMasters/notesMaster1.xml" Id="R3e34edc66c7444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dd6619a49495d" /><Relationship Type="http://schemas.openxmlformats.org/officeDocument/2006/relationships/notesMaster" Target="/ppt/notesMasters/notesMaster1.xml" Id="R27755e305dc6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760e5528b48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9ee5dd4dc34c1f" /><Relationship Type="http://schemas.openxmlformats.org/officeDocument/2006/relationships/slideLayout" Target="/ppt/slideLayouts/slideLayout2.xml" Id="Rf76911c11b4a4a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6911c11b4a4a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87d3fc61d45fd" /><Relationship Type="http://schemas.openxmlformats.org/officeDocument/2006/relationships/image" Target="/ppt/media/image.png" Id="Rfeae45c0222d4e01" /><Relationship Type="http://schemas.openxmlformats.org/officeDocument/2006/relationships/notesSlide" Target="/ppt/notesSlides/notesSlide1.xml" Id="Rb5b198f7341c44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3eda667a124615" /><Relationship Type="http://schemas.openxmlformats.org/officeDocument/2006/relationships/image" Target="/ppt/media/image2.png" Id="R770a8a449bbf4fc7" /><Relationship Type="http://schemas.openxmlformats.org/officeDocument/2006/relationships/notesSlide" Target="/ppt/notesSlides/notesSlide2.xml" Id="Re5e8dd880901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a2e37b59994e21" /><Relationship Type="http://schemas.openxmlformats.org/officeDocument/2006/relationships/image" Target="/ppt/media/image3.png" Id="R3df36ff5a1764218" /><Relationship Type="http://schemas.openxmlformats.org/officeDocument/2006/relationships/notesSlide" Target="/ppt/notesSlides/notesSlide3.xml" Id="R7e9fd6b2c3d947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4029D-0CE1-4A1E-AC46-8745720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52374-BB0E-48EA-B6B2-42953F09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7C8B-C064-4A6F-9C5D-CABBE33F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72623-075A-4DA8-B303-B90B83A0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482A5-6DF7-40A8-9DEF-C2722C94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机遇一：复杂图任务可通过显式规划进行结构化拆解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245C5-E630-4CF7-BA60-BB9C8FA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把原始长文本输入转化为任务目标、图结构、约束条件和伪代码步骤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EF510-88EC-43C4-9785-B223882B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FDD6C-7916-4821-A929-53D714E7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76E29-B273-475B-9C67-E8D2CC6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端到端推理在长序列图结构输入下，拓扑理解与约束推理不稳定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e45c0222d4e01"/>
          <a:stretch xmlns:a="http://schemas.openxmlformats.org/drawingml/2006/main"/>
        </p:blipFill>
        <p:spPr>
          <a:xfrm xmlns:a="http://schemas.openxmlformats.org/drawingml/2006/main">
            <a:off x="1976200" y="2209800"/>
            <a:ext cx="5077301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EAC34-374A-4AEA-9548-AAB24DF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58059-034C-45BC-978F-810C3A22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5B4C0-5B45-4146-BD62-4A814B1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如何将自然语言图任务稳定映射为可执行规划？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56445-8F11-4EA5-AFCB-095B7CE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答辩表达重点：规划不是普通思维链，而是连接任务语义、算法步骤和程序实现的中间层。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1B6BE-E57D-4378-9D61-B8B8356C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参考思路：GraphArena 揭示复杂图任务下 LLM 幻觉问题；PIE 等工作说明伪代码中间表示对图计算任务有帮助。</a:t>
            </a:r>
          </a:p>
        </p:txBody>
      </p:sp>
    </p:spTree>
    <p:extLst>
      <p:ext uri="{BB962C8B-B14F-4D97-AF65-F5344CB8AC3E}">
        <p14:creationId xmlns:p14="http://schemas.microsoft.com/office/powerpoint/2010/main" val="11985603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BB2BEF-D457-4E54-9C93-198FA6D6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48B66-6FAA-4B6F-B7E7-80BCA47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164B0-62BC-4512-88A0-C66B4DD7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B1F18-32B5-4FF7-90C0-E830F7AA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56D97-C40A-4992-A891-B55E12B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机遇二：规划路径可作为外部知识检索的高效查询依据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8CCE1-D225-4C0E-9D8B-3F6C814F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检索目标从原始问题文本转向算法步骤与结构化约束标签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2F4D4-9808-40A2-A3C0-B635CCDC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C29E7-841A-4238-B979-1AE8DFB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C5B3C-3FF9-4B73-8B2F-6337383D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程序生成式图推理依赖历史样本或经验代码库，知识构建成本高、泛化受限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a8a449bbf4fc7"/>
          <a:stretch xmlns:a="http://schemas.openxmlformats.org/drawingml/2006/main"/>
        </p:blipFill>
        <p:spPr>
          <a:xfrm xmlns:a="http://schemas.openxmlformats.org/drawingml/2006/main">
            <a:off x="1986276" y="2190750"/>
            <a:ext cx="5161922" cy="2905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EA313-5B97-48DB-8812-9E9D05A6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3A427-B610-40EB-A54A-06E2D7A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8B093-25CD-45CE-AFC7-36B5B578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如何让检索知识与算法步骤、任务约束保持一致？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634BD-2554-4450-A708-DCA12D70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答辩表达重点：规划把检索目标从原始文本转为算法步骤，使外部知识更贴近程序实现。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02A97-8120-48AC-BC72-8D4F77A2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参考思路：GCoder 证明程序化求解有效；本文进一步用规划引导实时检索，减少对历史经验库的依赖。</a:t>
            </a:r>
          </a:p>
        </p:txBody>
      </p:sp>
    </p:spTree>
    <p:extLst>
      <p:ext uri="{BB962C8B-B14F-4D97-AF65-F5344CB8AC3E}">
        <p14:creationId xmlns:p14="http://schemas.microsoft.com/office/powerpoint/2010/main" val="5063398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942B0-5A73-4DBF-85DC-9FA0223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71210-A987-47A7-A7CB-54299D1C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5318-D028-4C60-919C-3C29DD2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5A4E4-B6B0-45EC-BFF4-B264C4F7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8271-5597-4FD9-B464-7852E99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机遇三：程序执行结果可作为错误定位与修复反馈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721F0-411D-446A-A4C6-08FD8D8E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把生成错误从文本层面暴露到执行层面，再反向驱动修复和恢复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02EEF-3BE8-4B9E-862A-47F72D7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0E11-7611-4637-BBA7-FCED484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81733-730B-49BE-9159-96681E8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现有多智能体方法偏重角色分工，缺少面向执行错误和约束遗漏的稳定闭环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36ff5a1764218"/>
          <a:stretch xmlns:a="http://schemas.openxmlformats.org/drawingml/2006/main"/>
        </p:blipFill>
        <p:spPr>
          <a:xfrm xmlns:a="http://schemas.openxmlformats.org/drawingml/2006/main">
            <a:off x="2010089" y="2190750"/>
            <a:ext cx="5161922" cy="2905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772D0-C4EC-4F2F-837B-FAD96E7D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5C908-08B0-4B45-BECD-D37AA6B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BCF78-D8AC-406C-89DE-5F839AE3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如何通过执行反馈修正程序错误、约束遗漏和输出偏差？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794A2-FCD5-4A81-97D4-E9B0BF0A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答辩表达重点：反馈不是重复生成，而是按错误类型选择局部修复、补充检索或有界重生成。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DBD60-81EF-4C37-AE83-5ABE2630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参考思路：GraphTeam 体现多智能体协作价值；本文强调黑板调度、工件链和执行反馈恢复。</a:t>
            </a:r>
          </a:p>
        </p:txBody>
      </p:sp>
    </p:spTree>
    <p:extLst>
      <p:ext uri="{BB962C8B-B14F-4D97-AF65-F5344CB8AC3E}">
        <p14:creationId xmlns:p14="http://schemas.microsoft.com/office/powerpoint/2010/main" val="1864929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2026-06-01T04:39:25.1640000Z</dcterms:created>
  <dcterms:modified xsi:type="dcterms:W3CDTF">2026-06-01T04:39:25.1640000Z</dcterms:modified>
</coreProperties>
</file>